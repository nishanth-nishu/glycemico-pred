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R² by split type (dense spectrum)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C9CEEA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0.0</c:v>
                </c:pt>
                <c:pt idx="2">
                  <c:v>0.51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subjects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</c:v>
                </c:pt>
                <c:pt idx="1">
                  <c:v>-0.11</c:v>
                </c:pt>
                <c:pt idx="2">
                  <c:v>-0.43</c:v>
                </c:pt>
                <c:pt idx="3">
                  <c:v>-0.09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6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R² on unseen subjects by dataset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 LEDs</c:v>
                </c:pt>
              </c:strCache>
            </c:strRef>
          </c:tx>
          <c:spPr>
            <a:solidFill>
              <a:srgbClr val="D7263D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-0.16</c:v>
                </c:pt>
                <c:pt idx="1">
                  <c:v>-0.17</c:v>
                </c:pt>
                <c:pt idx="2">
                  <c:v>-0.28</c:v>
                </c:pt>
                <c:pt idx="3">
                  <c:v>-0.23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</c:v>
                </c:pt>
                <c:pt idx="1">
                  <c:v>-0.11</c:v>
                </c:pt>
                <c:pt idx="2">
                  <c:v>-0.43</c:v>
                </c:pt>
                <c:pt idx="3">
                  <c:v>-0.09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 (5× signal)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0.51</c:v>
                </c:pt>
                <c:pt idx="1">
                  <c:v>0.54</c:v>
                </c:pt>
                <c:pt idx="2">
                  <c:v>0.23</c:v>
                </c:pt>
                <c:pt idx="3">
                  <c:v>0.49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-0.6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Calibration (dense): MAE vs points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PLSR calibrated</c:v>
                </c:pt>
              </c:strCache>
            </c:strRef>
          </c:tx>
          <c:spPr>
            <a:ln w="31750">
              <a:solidFill>
                <a:srgbClr val="1B998B"/>
              </a:solidFill>
            </a:ln>
          </c:spPr>
          <c:marker>
            <c:size val="7"/>
            <c:spPr>
              <a:solidFill>
                <a:srgbClr val="1B998B"/>
              </a:solidFill>
              <a:ln>
                <a:solidFill>
                  <a:srgbClr val="1B99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38.3</c:v>
                </c:pt>
                <c:pt idx="1">
                  <c:v>36.1</c:v>
                </c:pt>
                <c:pt idx="2">
                  <c:v>37.0</c:v>
                </c:pt>
                <c:pt idx="3">
                  <c:v>33.0</c:v>
                </c:pt>
                <c:pt idx="4">
                  <c:v>25.5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ref_only</c:v>
                </c:pt>
              </c:strCache>
            </c:strRef>
          </c:tx>
          <c:spPr>
            <a:ln w="31750">
              <a:solidFill>
                <a:srgbClr val="D7263D"/>
              </a:solidFill>
            </a:ln>
          </c:spPr>
          <c:marker>
            <c:size val="7"/>
            <c:spPr>
              <a:solidFill>
                <a:srgbClr val="D7263D"/>
              </a:solidFill>
              <a:ln>
                <a:solidFill>
                  <a:srgbClr val="D7263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38.3</c:v>
                </c:pt>
                <c:pt idx="1">
                  <c:v>47.3</c:v>
                </c:pt>
                <c:pt idx="2">
                  <c:v>46.5</c:v>
                </c:pt>
                <c:pt idx="3">
                  <c:v>41.4</c:v>
                </c:pt>
                <c:pt idx="4">
                  <c:v>29.7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2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Preprocessing (dense): MAE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C9CEEA"/>
            </a:solidFill>
          </c:spPr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PLSR</c:v>
                </c:pt>
                <c:pt idx="2">
                  <c:v>FFNN</c:v>
                </c:pt>
                <c:pt idx="3">
                  <c:v>CatBoost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33.7</c:v>
                </c:pt>
                <c:pt idx="1">
                  <c:v>33.8</c:v>
                </c:pt>
                <c:pt idx="2">
                  <c:v>40.9</c:v>
                </c:pt>
                <c:pt idx="3">
                  <c:v>48.2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prep.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PLSR</c:v>
                </c:pt>
                <c:pt idx="2">
                  <c:v>FFNN</c:v>
                </c:pt>
                <c:pt idx="3">
                  <c:v>CatBoost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32.3</c:v>
                </c:pt>
                <c:pt idx="1">
                  <c:v>32.8</c:v>
                </c:pt>
                <c:pt idx="2">
                  <c:v>31.8</c:v>
                </c:pt>
                <c:pt idx="3">
                  <c:v>32.6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25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Wavelengths used (5 LEDs): MAE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PLSR (nested)</c:v>
                </c:pt>
              </c:strCache>
            </c:strRef>
          </c:tx>
          <c:spPr>
            <a:ln w="31750">
              <a:solidFill>
                <a:srgbClr val="1A1D3A"/>
              </a:solidFill>
            </a:ln>
          </c:spPr>
          <c:marker>
            <c:size val="7"/>
            <c:spPr>
              <a:solidFill>
                <a:srgbClr val="1A1D3A"/>
              </a:solidFill>
              <a:ln>
                <a:solidFill>
                  <a:srgbClr val="1A1D3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44.9</c:v>
                </c:pt>
                <c:pt idx="1">
                  <c:v>44.4</c:v>
                </c:pt>
                <c:pt idx="2">
                  <c:v>46.7</c:v>
                </c:pt>
                <c:pt idx="3">
                  <c:v>45.9</c:v>
                </c:pt>
                <c:pt idx="4">
                  <c:v>46.9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predictor</c:v>
                </c:pt>
              </c:strCache>
            </c:strRef>
          </c:tx>
          <c:spPr>
            <a:ln w="31750">
              <a:solidFill>
                <a:srgbClr val="5B6170"/>
              </a:solidFill>
            </a:ln>
          </c:spPr>
          <c:marker>
            <c:size val="7"/>
            <c:spPr>
              <a:solidFill>
                <a:srgbClr val="5B6170"/>
              </a:solidFill>
              <a:ln>
                <a:solidFill>
                  <a:srgbClr val="5B617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43.1</c:v>
                </c:pt>
                <c:pt idx="1">
                  <c:v>43.1</c:v>
                </c:pt>
                <c:pt idx="2">
                  <c:v>43.1</c:v>
                </c:pt>
                <c:pt idx="3">
                  <c:v>43.1</c:v>
                </c:pt>
                <c:pt idx="4">
                  <c:v>43.1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4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EarSpectro: predicting blood glucose from multi-wavelength earlobe NIR spectra. All results so far come from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box is a module of the earspectro package. Everything after the split is fitted on training subjects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Glucose adds about 0.002 OD per 100 mg/dL at its strongest band, against about 0.1 OD of between-subject tissue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transform, selector and tuning step is fitted inside training folds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dense spectrum, R² by split type. Right: R² on unseen subjects across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panels: errors on unseen subjects. ref_only = mean of calibration readings, spectra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A259"/>
                </a:solidFill>
                <a:latin typeface="Calibri"/>
              </a:rPr>
              <a:t>NON-INVASIVE GLUCOSE · NEAR-INFRARED SPECTROSCOPY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EarSpectro: predicting blood glucose from earlobe NIR spectra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9CEEA"/>
                </a:solidFill>
                <a:latin typeface="Calibri"/>
              </a:rPr>
              <a:t>Can multi-wavelength ear spectra predict glucose in people the model has never seen, and which preprocessing, wavelengths, model and calibration make that work?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343400"/>
            <a:ext cx="731520" cy="731520"/>
          </a:xfrm>
          <a:prstGeom prst="ellipse">
            <a:avLst/>
          </a:prstGeom>
          <a:solidFill>
            <a:srgbClr val="C9C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1050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4343400"/>
            <a:ext cx="731520" cy="731520"/>
          </a:xfrm>
          <a:prstGeom prst="ellipse">
            <a:avLst/>
          </a:prstGeom>
          <a:solidFill>
            <a:srgbClr val="C9C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4343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1200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4343400"/>
            <a:ext cx="731520" cy="7315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43200" y="4343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1450</a:t>
            </a:r>
          </a:p>
        </p:txBody>
      </p:sp>
      <p:sp>
        <p:nvSpPr>
          <p:cNvPr id="11" name="Oval 10"/>
          <p:cNvSpPr/>
          <p:nvPr/>
        </p:nvSpPr>
        <p:spPr>
          <a:xfrm>
            <a:off x="3703320" y="434340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03320" y="4343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1550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434340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4805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nm · the five EarSpectro LED wavelengths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CEEA"/>
                </a:solidFill>
                <a:latin typeface="Calibri"/>
              </a:rPr>
              <a:t>github.com/Nishanth-nishu/glycemico-pred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End-to-end pipeline: raw ear spectrum to glucose, quality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13232" y="18836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7099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Ear NIR + glucose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1488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nearest reading within 5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05072" y="2148840"/>
            <a:ext cx="33375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6259" y="15544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30851" y="18836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30851" y="18836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4940" y="17099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4940" y="21488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EEA"/>
                </a:solidFill>
                <a:latin typeface="Calibri"/>
              </a:rPr>
              <a:t>score Q, reject Q &lt; 0.5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22691" y="2148840"/>
            <a:ext cx="333757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79" y="15544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348471" y="18836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48471" y="18836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17099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1488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SG · SNV · MSC · d1 · detrend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98380" y="2770632"/>
            <a:ext cx="0" cy="356616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79" y="3154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48471" y="34838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48471" y="34838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33101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Representation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37490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spectrum, or 45 engineered features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822691" y="3749040"/>
            <a:ext cx="333757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66259" y="3154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0851" y="34838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30851" y="34838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4940" y="33101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4940" y="37490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corr · mRMR · RFE · nested λ subsets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005072" y="3749040"/>
            <a:ext cx="33375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3154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13232" y="34838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3232" y="34838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19" y="33101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37490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PLSR · SVR · RF · XGB · CatBoost · FFNN · 1-D CNN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63140" y="4370832"/>
            <a:ext cx="0" cy="356616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48640" y="47548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13232" y="50840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50840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49103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19" y="5349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EEA"/>
                </a:solidFill>
                <a:latin typeface="Calibri"/>
              </a:rPr>
              <a:t>random · unseen-subject · unseen-session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005072" y="5349240"/>
            <a:ext cx="33375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366259" y="47548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530851" y="50840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30851" y="50840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4940" y="49103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Calibration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4940" y="5349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EEA"/>
                </a:solidFill>
                <a:latin typeface="Calibri"/>
              </a:rPr>
              <a:t>0–5 reference points per session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822691" y="5349240"/>
            <a:ext cx="333757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183879" y="47548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348471" y="5084064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48471" y="50840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59" y="491032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Explain + 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59" y="5349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permutation · SHAP → (Ĝ, Q)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Dark boxes decide whether results generalise: the quality gate, subject-level validation and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SIGNAL MODEL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Glucose is a tiny part of a mixed spectrum; data is synthetic for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ormula: mix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507692" cy="335280"/>
          </a:xfrm>
          <a:prstGeom prst="rect">
            <a:avLst/>
          </a:prstGeom>
        </p:spPr>
      </p:pic>
      <p:pic>
        <p:nvPicPr>
          <p:cNvPr id="7" name="Picture 6" descr="Formula: absor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8376841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697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Simulates: subject anatomy · sensor placement and gain · OGTT glucose curves · temperature confounder · artifacts · 5% meter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3A"/>
                </a:solidFill>
                <a:latin typeface="Cambria"/>
              </a:rPr>
              <a:t>ear5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5 LEDs, realistic glucose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29184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26279" y="34015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998B"/>
                </a:solidFill>
                <a:latin typeface="Cambria"/>
              </a:rPr>
              <a:t>dense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840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1000–1700 nm every 5 nm, same physiology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29184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19" y="34015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7263D"/>
                </a:solidFill>
                <a:latin typeface="Cambria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840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5 LEDs, 5× stronger glucose, no confounder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Each dataset: 40 subjects × 2 sessions × 16 timepoints × 3 repeats = 3,840 spectra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40"/>
              </a:spcAft>
              <a:buChar char="•"/>
            </a:pPr>
            <a:r>
              <a:rPr sz="1200" b="0" i="0">
                <a:solidFill>
                  <a:srgbClr val="5B6170"/>
                </a:solidFill>
                <a:latin typeface="Calibri"/>
              </a:rPr>
              <a:t>Glucose band positions: Amerov, Chen &amp; Arnold (2004), Applied Spectroscopy, doi:10.1366/0003702042336136</a:t>
            </a:r>
          </a:p>
          <a:p>
            <a:pPr algn="l" marL="201168" indent="-201168">
              <a:spcAft>
                <a:spcPts val="540"/>
              </a:spcAft>
              <a:buChar char="•"/>
            </a:pPr>
            <a:r>
              <a:rPr sz="1200" b="0" i="0">
                <a:solidFill>
                  <a:srgbClr val="5B6170"/>
                </a:solidFill>
                <a:latin typeface="Calibri"/>
              </a:rPr>
              <a:t>No real EarSpectro recordings yet; real data plugs into the same CSV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Key formulas: quality, preprocessing, features, evaluation and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Quality score</a:t>
            </a:r>
          </a:p>
        </p:txBody>
      </p:sp>
      <p:pic>
        <p:nvPicPr>
          <p:cNvPr id="8" name="Picture 7" descr="Formula: qpr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2646484" cy="4466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79" y="1481328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59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SNV</a:t>
            </a:r>
          </a:p>
        </p:txBody>
      </p:sp>
      <p:pic>
        <p:nvPicPr>
          <p:cNvPr id="11" name="Picture 10" descr="Formula: sn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1865376"/>
            <a:ext cx="838786" cy="29542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19" y="1481328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9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MSC</a:t>
            </a:r>
          </a:p>
        </p:txBody>
      </p:sp>
      <p:pic>
        <p:nvPicPr>
          <p:cNvPr id="14" name="Picture 13" descr="Formula: ms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9" y="1865376"/>
            <a:ext cx="2263139" cy="27783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269748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Feature ratio</a:t>
            </a:r>
          </a:p>
        </p:txBody>
      </p:sp>
      <p:pic>
        <p:nvPicPr>
          <p:cNvPr id="17" name="Picture 16" descr="Formula: rat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81528"/>
            <a:ext cx="712176" cy="39037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97679" y="269748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59" y="27889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mRMR selection</a:t>
            </a:r>
          </a:p>
        </p:txBody>
      </p:sp>
      <p:pic>
        <p:nvPicPr>
          <p:cNvPr id="20" name="Picture 19" descr="Formula: mrm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59" y="3081528"/>
            <a:ext cx="3154680" cy="42581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046719" y="269748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9" y="27889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1-D convolution</a:t>
            </a:r>
          </a:p>
        </p:txBody>
      </p:sp>
      <p:pic>
        <p:nvPicPr>
          <p:cNvPr id="23" name="Picture 22" descr="Formula: conv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9" y="3081528"/>
            <a:ext cx="1936066" cy="57853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391363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00507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Leak-free split</a:t>
            </a:r>
          </a:p>
        </p:txBody>
      </p:sp>
      <p:pic>
        <p:nvPicPr>
          <p:cNvPr id="26" name="Picture 25" descr="Formula: spli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297680"/>
            <a:ext cx="1448972" cy="23035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297679" y="391363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80559" y="400507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Accuracy</a:t>
            </a:r>
          </a:p>
        </p:txBody>
      </p:sp>
      <p:pic>
        <p:nvPicPr>
          <p:cNvPr id="29" name="Picture 28" descr="Formula: ma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59" y="4297680"/>
            <a:ext cx="1709224" cy="57325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046719" y="391363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599" y="400507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Fit</a:t>
            </a:r>
          </a:p>
        </p:txBody>
      </p:sp>
      <p:pic>
        <p:nvPicPr>
          <p:cNvPr id="32" name="Picture 31" descr="Formula: r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599" y="4297680"/>
            <a:ext cx="1526344" cy="66118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48640" y="5129784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1520" y="5221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Clinical relative error</a:t>
            </a:r>
          </a:p>
        </p:txBody>
      </p:sp>
      <p:pic>
        <p:nvPicPr>
          <p:cNvPr id="35" name="Picture 34" descr="Formula: mar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5513832"/>
            <a:ext cx="1849901" cy="44313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297679" y="5129784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80559" y="5221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170"/>
                </a:solidFill>
                <a:latin typeface="Calibri"/>
              </a:rPr>
              <a:t>Offset calibration</a:t>
            </a:r>
          </a:p>
        </p:txBody>
      </p:sp>
      <p:pic>
        <p:nvPicPr>
          <p:cNvPr id="38" name="Picture 37" descr="Formula: cal_of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59" y="5513832"/>
            <a:ext cx="1990578" cy="57325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46719" y="5129784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599" y="522122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Control: ignore spectra</a:t>
            </a:r>
          </a:p>
        </p:txBody>
      </p:sp>
      <p:pic>
        <p:nvPicPr>
          <p:cNvPr id="41" name="Picture 40" descr="Formula: cal_re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9599" y="5513832"/>
            <a:ext cx="2781886" cy="573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Random splits flatter models; 5 LEDs can't untangle glucose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6304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26480" y="1463040"/>
          <a:ext cx="54864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692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FFNN drops from 0.60 to -0.09 on new people. Only linear PLSR stays positive: with 40 subjects, nonlinear models learn the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6692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The control proves the pipeline finds real signal (R² ≈ 0.5); 5 LEDs at realistic strength find none.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Calibration, preprocessing, wavelengths, QC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63040"/>
          <a:ext cx="35661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15968" y="1463040"/>
          <a:ext cx="3566160" cy="3017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83296" y="1463040"/>
          <a:ext cx="3529584" cy="30175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53712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At 5 points optics add ~4 mg/dL (25.5 vs 29.7); with 5 LEDs,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4553712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Linear barely moves; d1+SNV rescues trees (CatBoost 48 → 33).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553712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No subset of the 5 LEDs beats predicting the mean.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8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50468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D3A"/>
                </a:solidFill>
                <a:latin typeface="Calibri"/>
              </a:rPr>
              <a:t>96–100% of artifacts rejected; 0.05% of clean spectra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5138928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11296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7263D"/>
                </a:solidFill>
                <a:latin typeface="Calibri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550468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D3A"/>
                </a:solidFill>
                <a:latin typeface="Calibri"/>
              </a:rPr>
              <a:t>PLSR leans on 1440–1500 nm (water band, temperature), not the 1590 nm glucose band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5138928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09359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A259"/>
                </a:solidFill>
                <a:latin typeface="Calibri"/>
              </a:rPr>
              <a:t>Clinical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50468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D3A"/>
                </a:solidFill>
                <a:latin typeface="Calibri"/>
              </a:rPr>
              <a:t>Clarke zone A on unseen subjects: 47% dense PLSR, 57% control SVR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5138928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7424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A259"/>
                </a:solidFill>
                <a:latin typeface="Calibri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550468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 ear data · more wavelengths · skin-temperature sensor · uncertainty 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