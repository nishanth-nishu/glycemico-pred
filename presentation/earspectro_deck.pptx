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1D3A"/>
                </a:solidFill>
                <a:latin typeface="Calibri"/>
              </a:rPr>
              <a:t>Spectra rejected by QC, by injected artifact (ear5)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Rejected (%)</c:v>
                </c:pt>
              </c:strCache>
            </c:strRef>
          </c:tx>
          <c:spPr>
            <a:solidFill>
              <a:srgbClr val="D7263D"/>
            </a:solidFill>
          </c:spPr>
          <c:cat>
            <c:strRef>
              <c:f>Sheet1!$A$2:$A$6</c:f>
              <c:strCache>
                <c:ptCount val="5"/>
                <c:pt idx="0">
                  <c:v>dropout</c:v>
                </c:pt>
                <c:pt idx="1">
                  <c:v>saturation</c:v>
                </c:pt>
                <c:pt idx="2">
                  <c:v>ambient</c:v>
                </c:pt>
                <c:pt idx="3">
                  <c:v>motion</c:v>
                </c:pt>
                <c:pt idx="4">
                  <c:v>clean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96.3</c:v>
                </c:pt>
                <c:pt idx="4">
                  <c:v>0.1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>
                  <a:solidFill>
                    <a:srgbClr val="1A1D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8F1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l"/>
        <c:majorGridlines>
          <c:spPr>
            <a:ln>
              <a:solidFill>
                <a:srgbClr val="E4E8F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B617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1D3A"/>
                </a:solidFill>
                <a:latin typeface="Calibri"/>
              </a:rPr>
              <a:t>R² by evaluation scenario (dense spectrum, SNV)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Random split</c:v>
                </c:pt>
              </c:strCache>
            </c:strRef>
          </c:tx>
          <c:spPr>
            <a:solidFill>
              <a:srgbClr val="C9CEEA"/>
            </a:solidFill>
          </c:spPr>
          <c:cat>
            <c:strRef>
              <c:f>Sheet1!$A$2:$A$6</c:f>
              <c:strCache>
                <c:ptCount val="5"/>
                <c:pt idx="0">
                  <c:v>PLSR</c:v>
                </c:pt>
                <c:pt idx="1">
                  <c:v>SVR</c:v>
                </c:pt>
                <c:pt idx="2">
                  <c:v>CatBoost</c:v>
                </c:pt>
                <c:pt idx="3">
                  <c:v>FFNN</c:v>
                </c:pt>
                <c:pt idx="4">
                  <c:v>1-D CNN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0.42</c:v>
                </c:pt>
                <c:pt idx="1">
                  <c:v>0.0</c:v>
                </c:pt>
                <c:pt idx="2">
                  <c:v>0.51</c:v>
                </c:pt>
                <c:pt idx="3">
                  <c:v>0.6</c:v>
                </c:pt>
                <c:pt idx="4">
                  <c:v>-0.03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Unseen session</c:v>
                </c:pt>
              </c:strCache>
            </c:strRef>
          </c:tx>
          <c:spPr>
            <a:solidFill>
              <a:srgbClr val="F4A259"/>
            </a:solidFill>
          </c:spPr>
          <c:cat>
            <c:strRef>
              <c:f>Sheet1!$A$2:$A$6</c:f>
              <c:strCache>
                <c:ptCount val="5"/>
                <c:pt idx="0">
                  <c:v>PLSR</c:v>
                </c:pt>
                <c:pt idx="1">
                  <c:v>SVR</c:v>
                </c:pt>
                <c:pt idx="2">
                  <c:v>CatBoost</c:v>
                </c:pt>
                <c:pt idx="3">
                  <c:v>FFNN</c:v>
                </c:pt>
                <c:pt idx="4">
                  <c:v>1-D CNN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0.25</c:v>
                </c:pt>
                <c:pt idx="1">
                  <c:v>-0.06</c:v>
                </c:pt>
                <c:pt idx="2">
                  <c:v>-0.18</c:v>
                </c:pt>
                <c:pt idx="3">
                  <c:v>-0.63</c:v>
                </c:pt>
                <c:pt idx="4">
                  <c:v>0.02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Unseen subjects</c:v>
                </c:pt>
              </c:strCache>
            </c:strRef>
          </c:tx>
          <c:spPr>
            <a:solidFill>
              <a:srgbClr val="1A1D3A"/>
            </a:solidFill>
          </c:spPr>
          <c:cat>
            <c:strRef>
              <c:f>Sheet1!$A$2:$A$6</c:f>
              <c:strCache>
                <c:ptCount val="5"/>
                <c:pt idx="0">
                  <c:v>PLSR</c:v>
                </c:pt>
                <c:pt idx="1">
                  <c:v>SVR</c:v>
                </c:pt>
                <c:pt idx="2">
                  <c:v>CatBoost</c:v>
                </c:pt>
                <c:pt idx="3">
                  <c:v>FFNN</c:v>
                </c:pt>
                <c:pt idx="4">
                  <c:v>1-D CNN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0.23</c:v>
                </c:pt>
                <c:pt idx="1">
                  <c:v>-0.11</c:v>
                </c:pt>
                <c:pt idx="2">
                  <c:v>-0.43</c:v>
                </c:pt>
                <c:pt idx="3">
                  <c:v>-0.09</c:v>
                </c:pt>
                <c:pt idx="4">
                  <c:v>-0.28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solidFill>
                    <a:srgbClr val="1A1D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8F1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-0.8"/>
        </c:scaling>
        <c:delete val="0"/>
        <c:axPos val="l"/>
        <c:majorGridlines>
          <c:spPr>
            <a:ln>
              <a:solidFill>
                <a:srgbClr val="E4E8F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5B617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1D3A"/>
                </a:solidFill>
                <a:latin typeface="Calibri"/>
              </a:rPr>
              <a:t>R² on unseen subjects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5 LEDs (ear5)</c:v>
                </c:pt>
              </c:strCache>
            </c:strRef>
          </c:tx>
          <c:spPr>
            <a:solidFill>
              <a:srgbClr val="D7263D"/>
            </a:solidFill>
          </c:spPr>
          <c:cat>
            <c:strRef>
              <c:f>Sheet1!$A$2:$A$5</c:f>
              <c:strCache>
                <c:ptCount val="4"/>
                <c:pt idx="0">
                  <c:v>PLSR</c:v>
                </c:pt>
                <c:pt idx="1">
                  <c:v>SVR</c:v>
                </c:pt>
                <c:pt idx="2">
                  <c:v>CatBoost</c:v>
                </c:pt>
                <c:pt idx="3">
                  <c:v>FFNN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-0.16</c:v>
                </c:pt>
                <c:pt idx="1">
                  <c:v>-0.17</c:v>
                </c:pt>
                <c:pt idx="2">
                  <c:v>-0.28</c:v>
                </c:pt>
                <c:pt idx="3">
                  <c:v>-0.23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Dense spectrum</c:v>
                </c:pt>
              </c:strCache>
            </c:strRef>
          </c:tx>
          <c:spPr>
            <a:solidFill>
              <a:srgbClr val="1B998B"/>
            </a:solidFill>
          </c:spPr>
          <c:cat>
            <c:strRef>
              <c:f>Sheet1!$A$2:$A$5</c:f>
              <c:strCache>
                <c:ptCount val="4"/>
                <c:pt idx="0">
                  <c:v>PLSR</c:v>
                </c:pt>
                <c:pt idx="1">
                  <c:v>SVR</c:v>
                </c:pt>
                <c:pt idx="2">
                  <c:v>CatBoost</c:v>
                </c:pt>
                <c:pt idx="3">
                  <c:v>FFNN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0.23</c:v>
                </c:pt>
                <c:pt idx="1">
                  <c:v>-0.11</c:v>
                </c:pt>
                <c:pt idx="2">
                  <c:v>-0.43</c:v>
                </c:pt>
                <c:pt idx="3">
                  <c:v>-0.09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5 LEDs, 5× signal (control)</c:v>
                </c:pt>
              </c:strCache>
            </c:strRef>
          </c:tx>
          <c:spPr>
            <a:solidFill>
              <a:srgbClr val="1A1D3A"/>
            </a:solidFill>
          </c:spPr>
          <c:cat>
            <c:strRef>
              <c:f>Sheet1!$A$2:$A$5</c:f>
              <c:strCache>
                <c:ptCount val="4"/>
                <c:pt idx="0">
                  <c:v>PLSR</c:v>
                </c:pt>
                <c:pt idx="1">
                  <c:v>SVR</c:v>
                </c:pt>
                <c:pt idx="2">
                  <c:v>CatBoost</c:v>
                </c:pt>
                <c:pt idx="3">
                  <c:v>FFNN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0.51</c:v>
                </c:pt>
                <c:pt idx="1">
                  <c:v>0.54</c:v>
                </c:pt>
                <c:pt idx="2">
                  <c:v>0.23</c:v>
                </c:pt>
                <c:pt idx="3">
                  <c:v>0.49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solidFill>
                    <a:srgbClr val="1A1D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8F1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"/>
          <c:min val="-0.6"/>
        </c:scaling>
        <c:delete val="0"/>
        <c:axPos val="l"/>
        <c:majorGridlines>
          <c:spPr>
            <a:ln>
              <a:solidFill>
                <a:srgbClr val="E4E8F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5B617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1D3A"/>
                </a:solidFill>
                <a:latin typeface="Calibri"/>
              </a:rPr>
              <a:t>MAE on unseen subjects (dense spectrum)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Raw spectrum</c:v>
                </c:pt>
              </c:strCache>
            </c:strRef>
          </c:tx>
          <c:spPr>
            <a:solidFill>
              <a:srgbClr val="C9CEEA"/>
            </a:solidFill>
          </c:spPr>
          <c:cat>
            <c:strRef>
              <c:f>Sheet1!$A$2:$A$9</c:f>
              <c:strCache>
                <c:ptCount val="8"/>
                <c:pt idx="0">
                  <c:v>Linear</c:v>
                </c:pt>
                <c:pt idx="1">
                  <c:v>PLSR</c:v>
                </c:pt>
                <c:pt idx="2">
                  <c:v>SVR</c:v>
                </c:pt>
                <c:pt idx="3">
                  <c:v>1-D CNN</c:v>
                </c:pt>
                <c:pt idx="4">
                  <c:v>FFNN</c:v>
                </c:pt>
                <c:pt idx="5">
                  <c:v>RF</c:v>
                </c:pt>
                <c:pt idx="6">
                  <c:v>XGBoost</c:v>
                </c:pt>
                <c:pt idx="7">
                  <c:v>CatBoost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33.7</c:v>
                </c:pt>
                <c:pt idx="1">
                  <c:v>33.8</c:v>
                </c:pt>
                <c:pt idx="2">
                  <c:v>40.8</c:v>
                </c:pt>
                <c:pt idx="3">
                  <c:v>40.6</c:v>
                </c:pt>
                <c:pt idx="4">
                  <c:v>40.9</c:v>
                </c:pt>
                <c:pt idx="5">
                  <c:v>45.6</c:v>
                </c:pt>
                <c:pt idx="6">
                  <c:v>47.6</c:v>
                </c:pt>
                <c:pt idx="7">
                  <c:v>48.2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Best preprocessing</c:v>
                </c:pt>
              </c:strCache>
            </c:strRef>
          </c:tx>
          <c:spPr>
            <a:solidFill>
              <a:srgbClr val="1B998B"/>
            </a:solidFill>
          </c:spPr>
          <c:cat>
            <c:strRef>
              <c:f>Sheet1!$A$2:$A$9</c:f>
              <c:strCache>
                <c:ptCount val="8"/>
                <c:pt idx="0">
                  <c:v>Linear</c:v>
                </c:pt>
                <c:pt idx="1">
                  <c:v>PLSR</c:v>
                </c:pt>
                <c:pt idx="2">
                  <c:v>SVR</c:v>
                </c:pt>
                <c:pt idx="3">
                  <c:v>1-D CNN</c:v>
                </c:pt>
                <c:pt idx="4">
                  <c:v>FFNN</c:v>
                </c:pt>
                <c:pt idx="5">
                  <c:v>RF</c:v>
                </c:pt>
                <c:pt idx="6">
                  <c:v>XGBoost</c:v>
                </c:pt>
                <c:pt idx="7">
                  <c:v>CatBoost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32.3</c:v>
                </c:pt>
                <c:pt idx="1">
                  <c:v>32.8</c:v>
                </c:pt>
                <c:pt idx="2">
                  <c:v>34.7</c:v>
                </c:pt>
                <c:pt idx="3">
                  <c:v>39.4</c:v>
                </c:pt>
                <c:pt idx="4">
                  <c:v>31.8</c:v>
                </c:pt>
                <c:pt idx="5">
                  <c:v>34.7</c:v>
                </c:pt>
                <c:pt idx="6">
                  <c:v>33.7</c:v>
                </c:pt>
                <c:pt idx="7">
                  <c:v>32.6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>
                  <a:solidFill>
                    <a:srgbClr val="1A1D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8F1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25.0"/>
        </c:scaling>
        <c:delete val="0"/>
        <c:axPos val="l"/>
        <c:majorGridlines>
          <c:spPr>
            <a:ln>
              <a:solidFill>
                <a:srgbClr val="E4E8F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5B617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1D3A"/>
                </a:solidFill>
                <a:latin typeface="Calibri"/>
              </a:rPr>
              <a:t>MAE spread across variants (mg/dL)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MAE spread</c:v>
                </c:pt>
              </c:strCache>
            </c:strRef>
          </c:tx>
          <c:spPr>
            <a:solidFill>
              <a:srgbClr val="1A1D3A"/>
            </a:solidFill>
          </c:spPr>
          <c:cat>
            <c:strRef>
              <c:f>Sheet1!$A$2:$A$9</c:f>
              <c:strCache>
                <c:ptCount val="8"/>
                <c:pt idx="0">
                  <c:v>Linear</c:v>
                </c:pt>
                <c:pt idx="1">
                  <c:v>PLSR</c:v>
                </c:pt>
                <c:pt idx="2">
                  <c:v>SVR</c:v>
                </c:pt>
                <c:pt idx="3">
                  <c:v>1-D CNN</c:v>
                </c:pt>
                <c:pt idx="4">
                  <c:v>FFNN</c:v>
                </c:pt>
                <c:pt idx="5">
                  <c:v>RF</c:v>
                </c:pt>
                <c:pt idx="6">
                  <c:v>XGBoost</c:v>
                </c:pt>
                <c:pt idx="7">
                  <c:v>CatBoost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3.2</c:v>
                </c:pt>
                <c:pt idx="1">
                  <c:v>3.6</c:v>
                </c:pt>
                <c:pt idx="2">
                  <c:v>6.1</c:v>
                </c:pt>
                <c:pt idx="3">
                  <c:v>8.7</c:v>
                </c:pt>
                <c:pt idx="4">
                  <c:v>11.8</c:v>
                </c:pt>
                <c:pt idx="5">
                  <c:v>13.5</c:v>
                </c:pt>
                <c:pt idx="6">
                  <c:v>14.9</c:v>
                </c:pt>
                <c:pt idx="7">
                  <c:v>15.6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>
                  <a:solidFill>
                    <a:srgbClr val="1A1D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4E8F1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4E8F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B617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1D3A"/>
                </a:solidFill>
                <a:latin typeface="Calibri"/>
              </a:rPr>
              <a:t>Nested: MAE vs number of wavelengths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PLSR</c:v>
                </c:pt>
              </c:strCache>
            </c:strRef>
          </c:tx>
          <c:spPr>
            <a:ln w="31750">
              <a:solidFill>
                <a:srgbClr val="1B998B"/>
              </a:solidFill>
            </a:ln>
          </c:spPr>
          <c:marker>
            <c:size val="7"/>
            <c:spPr>
              <a:solidFill>
                <a:srgbClr val="1B998B"/>
              </a:solidFill>
              <a:ln>
                <a:solidFill>
                  <a:srgbClr val="1B998B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44.9</c:v>
                </c:pt>
                <c:pt idx="1">
                  <c:v>44.4</c:v>
                </c:pt>
                <c:pt idx="2">
                  <c:v>46.7</c:v>
                </c:pt>
                <c:pt idx="3">
                  <c:v>45.9</c:v>
                </c:pt>
                <c:pt idx="4">
                  <c:v>46.9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CatBoost</c:v>
                </c:pt>
              </c:strCache>
            </c:strRef>
          </c:tx>
          <c:spPr>
            <a:ln w="31750">
              <a:solidFill>
                <a:srgbClr val="D7263D"/>
              </a:solidFill>
            </a:ln>
          </c:spPr>
          <c:marker>
            <c:size val="7"/>
            <c:spPr>
              <a:solidFill>
                <a:srgbClr val="D7263D"/>
              </a:solidFill>
              <a:ln>
                <a:solidFill>
                  <a:srgbClr val="D7263D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51.9</c:v>
                </c:pt>
                <c:pt idx="1">
                  <c:v>54.3</c:v>
                </c:pt>
                <c:pt idx="2">
                  <c:v>54.5</c:v>
                </c:pt>
                <c:pt idx="3">
                  <c:v>53.2</c:v>
                </c:pt>
                <c:pt idx="4">
                  <c:v>54.0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Mean predictor</c:v>
                </c:pt>
              </c:strCache>
            </c:strRef>
          </c:tx>
          <c:spPr>
            <a:ln w="31750">
              <a:solidFill>
                <a:srgbClr val="5B6170"/>
              </a:solidFill>
            </a:ln>
          </c:spPr>
          <c:marker>
            <c:size val="7"/>
            <c:spPr>
              <a:solidFill>
                <a:srgbClr val="5B6170"/>
              </a:solidFill>
              <a:ln>
                <a:solidFill>
                  <a:srgbClr val="5B6170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43.1</c:v>
                </c:pt>
                <c:pt idx="1">
                  <c:v>43.1</c:v>
                </c:pt>
                <c:pt idx="2">
                  <c:v>43.1</c:v>
                </c:pt>
                <c:pt idx="3">
                  <c:v>43.1</c:v>
                </c:pt>
                <c:pt idx="4">
                  <c:v>43.1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A1D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8F1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6.0"/>
          <c:min val="40.0"/>
        </c:scaling>
        <c:delete val="0"/>
        <c:axPos val="l"/>
        <c:majorGridlines>
          <c:spPr>
            <a:ln>
              <a:solidFill>
                <a:srgbClr val="E4E8F1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B6170"/>
                    </a:solidFill>
                  </a:rPr>
                  <a:t>MAE (mg/dL)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B617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1D3A"/>
                </a:solidFill>
                <a:latin typeface="Calibri"/>
              </a:rPr>
              <a:t>Single-wavelength PLSR MAE (mg/dL)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PLSR, single wavelength</c:v>
                </c:pt>
              </c:strCache>
            </c:strRef>
          </c:tx>
          <c:spPr>
            <a:solidFill>
              <a:srgbClr val="1A1D3A"/>
            </a:solidFill>
          </c:spPr>
          <c:cat>
            <c:strRef>
              <c:f>Sheet1!$A$2:$A$6</c:f>
              <c:strCache>
                <c:ptCount val="5"/>
                <c:pt idx="0">
                  <c:v>1050 nm</c:v>
                </c:pt>
                <c:pt idx="1">
                  <c:v>1200 nm</c:v>
                </c:pt>
                <c:pt idx="2">
                  <c:v>1450 nm</c:v>
                </c:pt>
                <c:pt idx="3">
                  <c:v>1550 nm</c:v>
                </c:pt>
                <c:pt idx="4">
                  <c:v>1650 nm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44.7</c:v>
                </c:pt>
                <c:pt idx="1">
                  <c:v>43.9</c:v>
                </c:pt>
                <c:pt idx="2">
                  <c:v>43.2</c:v>
                </c:pt>
                <c:pt idx="3">
                  <c:v>42.9</c:v>
                </c:pt>
                <c:pt idx="4">
                  <c:v>43.0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>
                  <a:solidFill>
                    <a:srgbClr val="1A1D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8F1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6.0"/>
          <c:min val="40.0"/>
        </c:scaling>
        <c:delete val="0"/>
        <c:axPos val="l"/>
        <c:majorGridlines>
          <c:spPr>
            <a:ln>
              <a:solidFill>
                <a:srgbClr val="E4E8F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B617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1D3A"/>
                </a:solidFill>
                <a:latin typeface="Calibri"/>
              </a:rPr>
              <a:t>5 LEDs (ear5): PLSR MAE vs calibration points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Offset</c:v>
                </c:pt>
              </c:strCache>
            </c:strRef>
          </c:tx>
          <c:spPr>
            <a:ln w="31750">
              <a:solidFill>
                <a:srgbClr val="1B998B"/>
              </a:solidFill>
            </a:ln>
          </c:spPr>
          <c:marker>
            <c:size val="7"/>
            <c:spPr>
              <a:solidFill>
                <a:srgbClr val="1B998B"/>
              </a:solidFill>
              <a:ln>
                <a:solidFill>
                  <a:srgbClr val="1B998B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47.7</c:v>
                </c:pt>
                <c:pt idx="1">
                  <c:v>49.8</c:v>
                </c:pt>
                <c:pt idx="2">
                  <c:v>50.4</c:v>
                </c:pt>
                <c:pt idx="3">
                  <c:v>45.9</c:v>
                </c:pt>
                <c:pt idx="4">
                  <c:v>33.9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Shrunk linear</c:v>
                </c:pt>
              </c:strCache>
            </c:strRef>
          </c:tx>
          <c:spPr>
            <a:ln w="31750">
              <a:solidFill>
                <a:srgbClr val="1A1D3A"/>
              </a:solidFill>
            </a:ln>
          </c:spPr>
          <c:marker>
            <c:size val="7"/>
            <c:spPr>
              <a:solidFill>
                <a:srgbClr val="1A1D3A"/>
              </a:solidFill>
              <a:ln>
                <a:solidFill>
                  <a:srgbClr val="1A1D3A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47.7</c:v>
                </c:pt>
                <c:pt idx="1">
                  <c:v>49.8</c:v>
                </c:pt>
                <c:pt idx="2">
                  <c:v>50.0</c:v>
                </c:pt>
                <c:pt idx="3">
                  <c:v>45.2</c:v>
                </c:pt>
                <c:pt idx="4">
                  <c:v>33.6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ref_only (no spectra)</c:v>
                </c:pt>
              </c:strCache>
            </c:strRef>
          </c:tx>
          <c:spPr>
            <a:ln w="31750">
              <a:solidFill>
                <a:srgbClr val="D7263D"/>
              </a:solidFill>
            </a:ln>
          </c:spPr>
          <c:marker>
            <c:size val="7"/>
            <c:spPr>
              <a:solidFill>
                <a:srgbClr val="D7263D"/>
              </a:solidFill>
              <a:ln>
                <a:solidFill>
                  <a:srgbClr val="D7263D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47.7</c:v>
                </c:pt>
                <c:pt idx="1">
                  <c:v>47.9</c:v>
                </c:pt>
                <c:pt idx="2">
                  <c:v>48.4</c:v>
                </c:pt>
                <c:pt idx="3">
                  <c:v>44.0</c:v>
                </c:pt>
                <c:pt idx="4">
                  <c:v>32.8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sz="900">
                  <a:solidFill>
                    <a:srgbClr val="1A1D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8F1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5.0"/>
          <c:min val="20.0"/>
        </c:scaling>
        <c:delete val="0"/>
        <c:axPos val="l"/>
        <c:majorGridlines>
          <c:spPr>
            <a:ln>
              <a:solidFill>
                <a:srgbClr val="E4E8F1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B6170"/>
                    </a:solidFill>
                  </a:rPr>
                  <a:t>MAE (mg/dL)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B617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1D3A"/>
                </a:solidFill>
                <a:latin typeface="Calibri"/>
              </a:rPr>
              <a:t>Dense spectrum: PLSR MAE vs calibration points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Offset</c:v>
                </c:pt>
              </c:strCache>
            </c:strRef>
          </c:tx>
          <c:spPr>
            <a:ln w="31750">
              <a:solidFill>
                <a:srgbClr val="1B998B"/>
              </a:solidFill>
            </a:ln>
          </c:spPr>
          <c:marker>
            <c:size val="7"/>
            <c:spPr>
              <a:solidFill>
                <a:srgbClr val="1B998B"/>
              </a:solidFill>
              <a:ln>
                <a:solidFill>
                  <a:srgbClr val="1B998B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38.3</c:v>
                </c:pt>
                <c:pt idx="1">
                  <c:v>36.1</c:v>
                </c:pt>
                <c:pt idx="2">
                  <c:v>34.6</c:v>
                </c:pt>
                <c:pt idx="3">
                  <c:v>32.3</c:v>
                </c:pt>
                <c:pt idx="4">
                  <c:v>26.2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Shrunk linear</c:v>
                </c:pt>
              </c:strCache>
            </c:strRef>
          </c:tx>
          <c:spPr>
            <a:ln w="31750">
              <a:solidFill>
                <a:srgbClr val="1A1D3A"/>
              </a:solidFill>
            </a:ln>
          </c:spPr>
          <c:marker>
            <c:size val="7"/>
            <c:spPr>
              <a:solidFill>
                <a:srgbClr val="1A1D3A"/>
              </a:solidFill>
              <a:ln>
                <a:solidFill>
                  <a:srgbClr val="1A1D3A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38.3</c:v>
                </c:pt>
                <c:pt idx="1">
                  <c:v>36.1</c:v>
                </c:pt>
                <c:pt idx="2">
                  <c:v>37.0</c:v>
                </c:pt>
                <c:pt idx="3">
                  <c:v>33.0</c:v>
                </c:pt>
                <c:pt idx="4">
                  <c:v>25.5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ref_only (no spectra)</c:v>
                </c:pt>
              </c:strCache>
            </c:strRef>
          </c:tx>
          <c:spPr>
            <a:ln w="31750">
              <a:solidFill>
                <a:srgbClr val="D7263D"/>
              </a:solidFill>
            </a:ln>
          </c:spPr>
          <c:marker>
            <c:size val="7"/>
            <c:spPr>
              <a:solidFill>
                <a:srgbClr val="D7263D"/>
              </a:solidFill>
              <a:ln>
                <a:solidFill>
                  <a:srgbClr val="D7263D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38.3</c:v>
                </c:pt>
                <c:pt idx="1">
                  <c:v>47.3</c:v>
                </c:pt>
                <c:pt idx="2">
                  <c:v>46.5</c:v>
                </c:pt>
                <c:pt idx="3">
                  <c:v>41.4</c:v>
                </c:pt>
                <c:pt idx="4">
                  <c:v>29.7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sz="900">
                  <a:solidFill>
                    <a:srgbClr val="1A1D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8F1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5.0"/>
          <c:min val="20.0"/>
        </c:scaling>
        <c:delete val="0"/>
        <c:axPos val="l"/>
        <c:majorGridlines>
          <c:spPr>
            <a:ln>
              <a:solidFill>
                <a:srgbClr val="E4E8F1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B6170"/>
                    </a:solidFill>
                  </a:rPr>
                  <a:t>MAE (mg/dL)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B617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1D3A"/>
                </a:solidFill>
                <a:latin typeface="Calibri"/>
              </a:rPr>
              <a:t>Dense PLSR: permutation importance by wavelength (nm)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ΔMAE when permuted</c:v>
                </c:pt>
              </c:strCache>
            </c:strRef>
          </c:tx>
          <c:spPr>
            <a:ln w="31750">
              <a:solidFill>
                <a:srgbClr val="1A1D3A"/>
              </a:solidFill>
            </a:ln>
          </c:spPr>
          <c:marker>
            <c:symbol val="none"/>
          </c:marker>
          <c:cat>
            <c:strRef>
              <c:f>Sheet1!$A$2:$A$142</c:f>
              <c:strCache>
                <c:ptCount val="141"/>
                <c:pt idx="0">
                  <c:v>1000</c:v>
                </c:pt>
                <c:pt idx="1">
                  <c:v>1005</c:v>
                </c:pt>
                <c:pt idx="2">
                  <c:v>1010</c:v>
                </c:pt>
                <c:pt idx="3">
                  <c:v>1015</c:v>
                </c:pt>
                <c:pt idx="4">
                  <c:v>1020</c:v>
                </c:pt>
                <c:pt idx="5">
                  <c:v>1025</c:v>
                </c:pt>
                <c:pt idx="6">
                  <c:v>1030</c:v>
                </c:pt>
                <c:pt idx="7">
                  <c:v>1035</c:v>
                </c:pt>
                <c:pt idx="8">
                  <c:v>1040</c:v>
                </c:pt>
                <c:pt idx="9">
                  <c:v>1045</c:v>
                </c:pt>
                <c:pt idx="10">
                  <c:v>1050</c:v>
                </c:pt>
                <c:pt idx="11">
                  <c:v>1055</c:v>
                </c:pt>
                <c:pt idx="12">
                  <c:v>1060</c:v>
                </c:pt>
                <c:pt idx="13">
                  <c:v>1065</c:v>
                </c:pt>
                <c:pt idx="14">
                  <c:v>1070</c:v>
                </c:pt>
                <c:pt idx="15">
                  <c:v>1075</c:v>
                </c:pt>
                <c:pt idx="16">
                  <c:v>1080</c:v>
                </c:pt>
                <c:pt idx="17">
                  <c:v>1085</c:v>
                </c:pt>
                <c:pt idx="18">
                  <c:v>1090</c:v>
                </c:pt>
                <c:pt idx="19">
                  <c:v>1095</c:v>
                </c:pt>
                <c:pt idx="20">
                  <c:v>1100</c:v>
                </c:pt>
                <c:pt idx="21">
                  <c:v>1105</c:v>
                </c:pt>
                <c:pt idx="22">
                  <c:v>1110</c:v>
                </c:pt>
                <c:pt idx="23">
                  <c:v>1115</c:v>
                </c:pt>
                <c:pt idx="24">
                  <c:v>1120</c:v>
                </c:pt>
                <c:pt idx="25">
                  <c:v>1125</c:v>
                </c:pt>
                <c:pt idx="26">
                  <c:v>1130</c:v>
                </c:pt>
                <c:pt idx="27">
                  <c:v>1135</c:v>
                </c:pt>
                <c:pt idx="28">
                  <c:v>1140</c:v>
                </c:pt>
                <c:pt idx="29">
                  <c:v>1145</c:v>
                </c:pt>
                <c:pt idx="30">
                  <c:v>1150</c:v>
                </c:pt>
                <c:pt idx="31">
                  <c:v>1155</c:v>
                </c:pt>
                <c:pt idx="32">
                  <c:v>1160</c:v>
                </c:pt>
                <c:pt idx="33">
                  <c:v>1165</c:v>
                </c:pt>
                <c:pt idx="34">
                  <c:v>1170</c:v>
                </c:pt>
                <c:pt idx="35">
                  <c:v>1175</c:v>
                </c:pt>
                <c:pt idx="36">
                  <c:v>1180</c:v>
                </c:pt>
                <c:pt idx="37">
                  <c:v>1185</c:v>
                </c:pt>
                <c:pt idx="38">
                  <c:v>1190</c:v>
                </c:pt>
                <c:pt idx="39">
                  <c:v>1195</c:v>
                </c:pt>
                <c:pt idx="40">
                  <c:v>1200</c:v>
                </c:pt>
                <c:pt idx="41">
                  <c:v>1205</c:v>
                </c:pt>
                <c:pt idx="42">
                  <c:v>1210</c:v>
                </c:pt>
                <c:pt idx="43">
                  <c:v>1215</c:v>
                </c:pt>
                <c:pt idx="44">
                  <c:v>1220</c:v>
                </c:pt>
                <c:pt idx="45">
                  <c:v>1225</c:v>
                </c:pt>
                <c:pt idx="46">
                  <c:v>1230</c:v>
                </c:pt>
                <c:pt idx="47">
                  <c:v>1235</c:v>
                </c:pt>
                <c:pt idx="48">
                  <c:v>1240</c:v>
                </c:pt>
                <c:pt idx="49">
                  <c:v>1245</c:v>
                </c:pt>
                <c:pt idx="50">
                  <c:v>1250</c:v>
                </c:pt>
                <c:pt idx="51">
                  <c:v>1255</c:v>
                </c:pt>
                <c:pt idx="52">
                  <c:v>1260</c:v>
                </c:pt>
                <c:pt idx="53">
                  <c:v>1265</c:v>
                </c:pt>
                <c:pt idx="54">
                  <c:v>1270</c:v>
                </c:pt>
                <c:pt idx="55">
                  <c:v>1275</c:v>
                </c:pt>
                <c:pt idx="56">
                  <c:v>1280</c:v>
                </c:pt>
                <c:pt idx="57">
                  <c:v>1285</c:v>
                </c:pt>
                <c:pt idx="58">
                  <c:v>1290</c:v>
                </c:pt>
                <c:pt idx="59">
                  <c:v>1295</c:v>
                </c:pt>
                <c:pt idx="60">
                  <c:v>1300</c:v>
                </c:pt>
                <c:pt idx="61">
                  <c:v>1305</c:v>
                </c:pt>
                <c:pt idx="62">
                  <c:v>1310</c:v>
                </c:pt>
                <c:pt idx="63">
                  <c:v>1315</c:v>
                </c:pt>
                <c:pt idx="64">
                  <c:v>1320</c:v>
                </c:pt>
                <c:pt idx="65">
                  <c:v>1325</c:v>
                </c:pt>
                <c:pt idx="66">
                  <c:v>1330</c:v>
                </c:pt>
                <c:pt idx="67">
                  <c:v>1335</c:v>
                </c:pt>
                <c:pt idx="68">
                  <c:v>1340</c:v>
                </c:pt>
                <c:pt idx="69">
                  <c:v>1345</c:v>
                </c:pt>
                <c:pt idx="70">
                  <c:v>1350</c:v>
                </c:pt>
                <c:pt idx="71">
                  <c:v>1355</c:v>
                </c:pt>
                <c:pt idx="72">
                  <c:v>1360</c:v>
                </c:pt>
                <c:pt idx="73">
                  <c:v>1365</c:v>
                </c:pt>
                <c:pt idx="74">
                  <c:v>1370</c:v>
                </c:pt>
                <c:pt idx="75">
                  <c:v>1375</c:v>
                </c:pt>
                <c:pt idx="76">
                  <c:v>1380</c:v>
                </c:pt>
                <c:pt idx="77">
                  <c:v>1385</c:v>
                </c:pt>
                <c:pt idx="78">
                  <c:v>1390</c:v>
                </c:pt>
                <c:pt idx="79">
                  <c:v>1395</c:v>
                </c:pt>
                <c:pt idx="80">
                  <c:v>1400</c:v>
                </c:pt>
                <c:pt idx="81">
                  <c:v>1405</c:v>
                </c:pt>
                <c:pt idx="82">
                  <c:v>1410</c:v>
                </c:pt>
                <c:pt idx="83">
                  <c:v>1415</c:v>
                </c:pt>
                <c:pt idx="84">
                  <c:v>1420</c:v>
                </c:pt>
                <c:pt idx="85">
                  <c:v>1425</c:v>
                </c:pt>
                <c:pt idx="86">
                  <c:v>1430</c:v>
                </c:pt>
                <c:pt idx="87">
                  <c:v>1435</c:v>
                </c:pt>
                <c:pt idx="88">
                  <c:v>1440</c:v>
                </c:pt>
                <c:pt idx="89">
                  <c:v>1445</c:v>
                </c:pt>
                <c:pt idx="90">
                  <c:v>1450</c:v>
                </c:pt>
                <c:pt idx="91">
                  <c:v>1455</c:v>
                </c:pt>
                <c:pt idx="92">
                  <c:v>1460</c:v>
                </c:pt>
                <c:pt idx="93">
                  <c:v>1465</c:v>
                </c:pt>
                <c:pt idx="94">
                  <c:v>1470</c:v>
                </c:pt>
                <c:pt idx="95">
                  <c:v>1475</c:v>
                </c:pt>
                <c:pt idx="96">
                  <c:v>1480</c:v>
                </c:pt>
                <c:pt idx="97">
                  <c:v>1485</c:v>
                </c:pt>
                <c:pt idx="98">
                  <c:v>1490</c:v>
                </c:pt>
                <c:pt idx="99">
                  <c:v>1495</c:v>
                </c:pt>
                <c:pt idx="100">
                  <c:v>1500</c:v>
                </c:pt>
                <c:pt idx="101">
                  <c:v>1505</c:v>
                </c:pt>
                <c:pt idx="102">
                  <c:v>1510</c:v>
                </c:pt>
                <c:pt idx="103">
                  <c:v>1515</c:v>
                </c:pt>
                <c:pt idx="104">
                  <c:v>1520</c:v>
                </c:pt>
                <c:pt idx="105">
                  <c:v>1525</c:v>
                </c:pt>
                <c:pt idx="106">
                  <c:v>1530</c:v>
                </c:pt>
                <c:pt idx="107">
                  <c:v>1535</c:v>
                </c:pt>
                <c:pt idx="108">
                  <c:v>1540</c:v>
                </c:pt>
                <c:pt idx="109">
                  <c:v>1545</c:v>
                </c:pt>
                <c:pt idx="110">
                  <c:v>1550</c:v>
                </c:pt>
                <c:pt idx="111">
                  <c:v>1555</c:v>
                </c:pt>
                <c:pt idx="112">
                  <c:v>1560</c:v>
                </c:pt>
                <c:pt idx="113">
                  <c:v>1565</c:v>
                </c:pt>
                <c:pt idx="114">
                  <c:v>1570</c:v>
                </c:pt>
                <c:pt idx="115">
                  <c:v>1575</c:v>
                </c:pt>
                <c:pt idx="116">
                  <c:v>1580</c:v>
                </c:pt>
                <c:pt idx="117">
                  <c:v>1585</c:v>
                </c:pt>
                <c:pt idx="118">
                  <c:v>1590</c:v>
                </c:pt>
                <c:pt idx="119">
                  <c:v>1595</c:v>
                </c:pt>
                <c:pt idx="120">
                  <c:v>1600</c:v>
                </c:pt>
                <c:pt idx="121">
                  <c:v>1605</c:v>
                </c:pt>
                <c:pt idx="122">
                  <c:v>1610</c:v>
                </c:pt>
                <c:pt idx="123">
                  <c:v>1615</c:v>
                </c:pt>
                <c:pt idx="124">
                  <c:v>1620</c:v>
                </c:pt>
                <c:pt idx="125">
                  <c:v>1625</c:v>
                </c:pt>
                <c:pt idx="126">
                  <c:v>1630</c:v>
                </c:pt>
                <c:pt idx="127">
                  <c:v>1635</c:v>
                </c:pt>
                <c:pt idx="128">
                  <c:v>1640</c:v>
                </c:pt>
                <c:pt idx="129">
                  <c:v>1645</c:v>
                </c:pt>
                <c:pt idx="130">
                  <c:v>1650</c:v>
                </c:pt>
                <c:pt idx="131">
                  <c:v>1655</c:v>
                </c:pt>
                <c:pt idx="132">
                  <c:v>1660</c:v>
                </c:pt>
                <c:pt idx="133">
                  <c:v>1665</c:v>
                </c:pt>
                <c:pt idx="134">
                  <c:v>1670</c:v>
                </c:pt>
                <c:pt idx="135">
                  <c:v>1675</c:v>
                </c:pt>
                <c:pt idx="136">
                  <c:v>1680</c:v>
                </c:pt>
                <c:pt idx="137">
                  <c:v>1685</c:v>
                </c:pt>
                <c:pt idx="138">
                  <c:v>1690</c:v>
                </c:pt>
                <c:pt idx="139">
                  <c:v>1695</c:v>
                </c:pt>
                <c:pt idx="140">
                  <c:v>1700</c:v>
                </c:pt>
              </c:strCache>
            </c:strRef>
          </c:cat>
          <c:val>
            <c:numRef>
              <c:f>Sheet1!$B$2:$B$142</c:f>
              <c:numCache>
                <c:formatCode>General</c:formatCode>
                <c:ptCount val="141"/>
                <c:pt idx="0">
                  <c:v>81.9</c:v>
                </c:pt>
                <c:pt idx="1">
                  <c:v>40.1</c:v>
                </c:pt>
                <c:pt idx="2">
                  <c:v>53.2</c:v>
                </c:pt>
                <c:pt idx="3">
                  <c:v>21.9</c:v>
                </c:pt>
                <c:pt idx="4">
                  <c:v>5.1</c:v>
                </c:pt>
                <c:pt idx="5">
                  <c:v>104.0</c:v>
                </c:pt>
                <c:pt idx="6">
                  <c:v>17.2</c:v>
                </c:pt>
                <c:pt idx="7">
                  <c:v>24.9</c:v>
                </c:pt>
                <c:pt idx="8">
                  <c:v>24.8</c:v>
                </c:pt>
                <c:pt idx="9">
                  <c:v>34.6</c:v>
                </c:pt>
                <c:pt idx="10">
                  <c:v>27.6</c:v>
                </c:pt>
                <c:pt idx="11">
                  <c:v>65.9</c:v>
                </c:pt>
                <c:pt idx="12">
                  <c:v>73.6</c:v>
                </c:pt>
                <c:pt idx="13">
                  <c:v>56.2</c:v>
                </c:pt>
                <c:pt idx="14">
                  <c:v>5.8</c:v>
                </c:pt>
                <c:pt idx="15">
                  <c:v>27.4</c:v>
                </c:pt>
                <c:pt idx="16">
                  <c:v>47.7</c:v>
                </c:pt>
                <c:pt idx="17">
                  <c:v>39.0</c:v>
                </c:pt>
                <c:pt idx="18">
                  <c:v>7.4</c:v>
                </c:pt>
                <c:pt idx="19">
                  <c:v>53.3</c:v>
                </c:pt>
                <c:pt idx="20">
                  <c:v>8.0</c:v>
                </c:pt>
                <c:pt idx="21">
                  <c:v>51.7</c:v>
                </c:pt>
                <c:pt idx="22">
                  <c:v>3.8</c:v>
                </c:pt>
                <c:pt idx="23">
                  <c:v>9.6</c:v>
                </c:pt>
                <c:pt idx="24">
                  <c:v>7.9</c:v>
                </c:pt>
                <c:pt idx="25">
                  <c:v>6.6</c:v>
                </c:pt>
                <c:pt idx="26">
                  <c:v>4.0</c:v>
                </c:pt>
                <c:pt idx="27">
                  <c:v>27.7</c:v>
                </c:pt>
                <c:pt idx="28">
                  <c:v>32.9</c:v>
                </c:pt>
                <c:pt idx="29">
                  <c:v>23.0</c:v>
                </c:pt>
                <c:pt idx="30">
                  <c:v>17.5</c:v>
                </c:pt>
                <c:pt idx="31">
                  <c:v>69.1</c:v>
                </c:pt>
                <c:pt idx="32">
                  <c:v>32.0</c:v>
                </c:pt>
                <c:pt idx="33">
                  <c:v>62.9</c:v>
                </c:pt>
                <c:pt idx="34">
                  <c:v>6.1</c:v>
                </c:pt>
                <c:pt idx="35">
                  <c:v>49.6</c:v>
                </c:pt>
                <c:pt idx="36">
                  <c:v>57.0</c:v>
                </c:pt>
                <c:pt idx="37">
                  <c:v>10.8</c:v>
                </c:pt>
                <c:pt idx="38">
                  <c:v>2.3</c:v>
                </c:pt>
                <c:pt idx="39">
                  <c:v>3.2</c:v>
                </c:pt>
                <c:pt idx="40">
                  <c:v>50.6</c:v>
                </c:pt>
                <c:pt idx="41">
                  <c:v>41.6</c:v>
                </c:pt>
                <c:pt idx="42">
                  <c:v>75.7</c:v>
                </c:pt>
                <c:pt idx="43">
                  <c:v>43.2</c:v>
                </c:pt>
                <c:pt idx="44">
                  <c:v>39.5</c:v>
                </c:pt>
                <c:pt idx="45">
                  <c:v>1.3</c:v>
                </c:pt>
                <c:pt idx="46">
                  <c:v>7.1</c:v>
                </c:pt>
                <c:pt idx="47">
                  <c:v>4.3</c:v>
                </c:pt>
                <c:pt idx="48">
                  <c:v>17.8</c:v>
                </c:pt>
                <c:pt idx="49">
                  <c:v>5.3</c:v>
                </c:pt>
                <c:pt idx="50">
                  <c:v>0.3</c:v>
                </c:pt>
                <c:pt idx="51">
                  <c:v>7.4</c:v>
                </c:pt>
                <c:pt idx="52">
                  <c:v>45.1</c:v>
                </c:pt>
                <c:pt idx="53">
                  <c:v>24.8</c:v>
                </c:pt>
                <c:pt idx="54">
                  <c:v>4.4</c:v>
                </c:pt>
                <c:pt idx="55">
                  <c:v>6.4</c:v>
                </c:pt>
                <c:pt idx="56">
                  <c:v>3.1</c:v>
                </c:pt>
                <c:pt idx="57">
                  <c:v>14.2</c:v>
                </c:pt>
                <c:pt idx="58">
                  <c:v>26.7</c:v>
                </c:pt>
                <c:pt idx="59">
                  <c:v>2.3</c:v>
                </c:pt>
                <c:pt idx="60">
                  <c:v>6.3</c:v>
                </c:pt>
                <c:pt idx="61">
                  <c:v>5.9</c:v>
                </c:pt>
                <c:pt idx="62">
                  <c:v>3.7</c:v>
                </c:pt>
                <c:pt idx="63">
                  <c:v>27.5</c:v>
                </c:pt>
                <c:pt idx="64">
                  <c:v>3.0</c:v>
                </c:pt>
                <c:pt idx="65">
                  <c:v>34.3</c:v>
                </c:pt>
                <c:pt idx="66">
                  <c:v>13.1</c:v>
                </c:pt>
                <c:pt idx="67">
                  <c:v>11.3</c:v>
                </c:pt>
                <c:pt idx="68">
                  <c:v>15.5</c:v>
                </c:pt>
                <c:pt idx="69">
                  <c:v>40.4</c:v>
                </c:pt>
                <c:pt idx="70">
                  <c:v>20.9</c:v>
                </c:pt>
                <c:pt idx="71">
                  <c:v>28.3</c:v>
                </c:pt>
                <c:pt idx="72">
                  <c:v>35.5</c:v>
                </c:pt>
                <c:pt idx="73">
                  <c:v>10.9</c:v>
                </c:pt>
                <c:pt idx="74">
                  <c:v>10.8</c:v>
                </c:pt>
                <c:pt idx="75">
                  <c:v>10.0</c:v>
                </c:pt>
                <c:pt idx="76">
                  <c:v>60.3</c:v>
                </c:pt>
                <c:pt idx="77">
                  <c:v>32.1</c:v>
                </c:pt>
                <c:pt idx="78">
                  <c:v>15.6</c:v>
                </c:pt>
                <c:pt idx="79">
                  <c:v>10.0</c:v>
                </c:pt>
                <c:pt idx="80">
                  <c:v>23.3</c:v>
                </c:pt>
                <c:pt idx="81">
                  <c:v>26.1</c:v>
                </c:pt>
                <c:pt idx="82">
                  <c:v>40.8</c:v>
                </c:pt>
                <c:pt idx="83">
                  <c:v>26.7</c:v>
                </c:pt>
                <c:pt idx="84">
                  <c:v>102.3</c:v>
                </c:pt>
                <c:pt idx="85">
                  <c:v>112.2</c:v>
                </c:pt>
                <c:pt idx="86">
                  <c:v>55.1</c:v>
                </c:pt>
                <c:pt idx="87">
                  <c:v>105.6</c:v>
                </c:pt>
                <c:pt idx="88">
                  <c:v>278.0</c:v>
                </c:pt>
                <c:pt idx="89">
                  <c:v>191.1</c:v>
                </c:pt>
                <c:pt idx="90">
                  <c:v>341.9</c:v>
                </c:pt>
                <c:pt idx="91">
                  <c:v>108.2</c:v>
                </c:pt>
                <c:pt idx="92">
                  <c:v>88.8</c:v>
                </c:pt>
                <c:pt idx="93">
                  <c:v>214.1</c:v>
                </c:pt>
                <c:pt idx="94">
                  <c:v>104.1</c:v>
                </c:pt>
                <c:pt idx="95">
                  <c:v>247.0</c:v>
                </c:pt>
                <c:pt idx="96">
                  <c:v>269.4</c:v>
                </c:pt>
                <c:pt idx="97">
                  <c:v>313.5</c:v>
                </c:pt>
                <c:pt idx="98">
                  <c:v>315.1</c:v>
                </c:pt>
                <c:pt idx="99">
                  <c:v>380.6</c:v>
                </c:pt>
                <c:pt idx="100">
                  <c:v>320.8</c:v>
                </c:pt>
                <c:pt idx="101">
                  <c:v>189.0</c:v>
                </c:pt>
                <c:pt idx="102">
                  <c:v>145.7</c:v>
                </c:pt>
                <c:pt idx="103">
                  <c:v>207.0</c:v>
                </c:pt>
                <c:pt idx="104">
                  <c:v>19.5</c:v>
                </c:pt>
                <c:pt idx="105">
                  <c:v>35.5</c:v>
                </c:pt>
                <c:pt idx="106">
                  <c:v>109.1</c:v>
                </c:pt>
                <c:pt idx="107">
                  <c:v>99.1</c:v>
                </c:pt>
                <c:pt idx="108">
                  <c:v>157.7</c:v>
                </c:pt>
                <c:pt idx="109">
                  <c:v>219.9</c:v>
                </c:pt>
                <c:pt idx="110">
                  <c:v>257.6</c:v>
                </c:pt>
                <c:pt idx="111">
                  <c:v>246.1</c:v>
                </c:pt>
                <c:pt idx="112">
                  <c:v>204.7</c:v>
                </c:pt>
                <c:pt idx="113">
                  <c:v>255.8</c:v>
                </c:pt>
                <c:pt idx="114">
                  <c:v>212.3</c:v>
                </c:pt>
                <c:pt idx="115">
                  <c:v>255.0</c:v>
                </c:pt>
                <c:pt idx="116">
                  <c:v>213.8</c:v>
                </c:pt>
                <c:pt idx="117">
                  <c:v>148.9</c:v>
                </c:pt>
                <c:pt idx="118">
                  <c:v>151.5</c:v>
                </c:pt>
                <c:pt idx="119">
                  <c:v>151.1</c:v>
                </c:pt>
                <c:pt idx="120">
                  <c:v>163.3</c:v>
                </c:pt>
                <c:pt idx="121">
                  <c:v>60.9</c:v>
                </c:pt>
                <c:pt idx="122">
                  <c:v>54.0</c:v>
                </c:pt>
                <c:pt idx="123">
                  <c:v>48.9</c:v>
                </c:pt>
                <c:pt idx="124">
                  <c:v>7.3</c:v>
                </c:pt>
                <c:pt idx="125">
                  <c:v>17.1</c:v>
                </c:pt>
                <c:pt idx="126">
                  <c:v>93.7</c:v>
                </c:pt>
                <c:pt idx="127">
                  <c:v>136.2</c:v>
                </c:pt>
                <c:pt idx="128">
                  <c:v>120.7</c:v>
                </c:pt>
                <c:pt idx="129">
                  <c:v>129.6</c:v>
                </c:pt>
                <c:pt idx="130">
                  <c:v>111.4</c:v>
                </c:pt>
                <c:pt idx="131">
                  <c:v>143.7</c:v>
                </c:pt>
                <c:pt idx="132">
                  <c:v>103.0</c:v>
                </c:pt>
                <c:pt idx="133">
                  <c:v>91.0</c:v>
                </c:pt>
                <c:pt idx="134">
                  <c:v>81.4</c:v>
                </c:pt>
                <c:pt idx="135">
                  <c:v>29.7</c:v>
                </c:pt>
                <c:pt idx="136">
                  <c:v>8.7</c:v>
                </c:pt>
                <c:pt idx="137">
                  <c:v>3.1</c:v>
                </c:pt>
                <c:pt idx="138">
                  <c:v>21.0</c:v>
                </c:pt>
                <c:pt idx="139">
                  <c:v>10.6</c:v>
                </c:pt>
                <c:pt idx="140">
                  <c:v>50.5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8F1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tickLblSkip val="2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4E8F1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B6170"/>
                    </a:solidFill>
                  </a:rPr>
                  <a:t>ΔMAE (mg/dL)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5B617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1D3A"/>
                </a:solidFill>
                <a:latin typeface="Calibri"/>
              </a:rPr>
              <a:t>ear5 CatBoost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|SHAP|</c:v>
                </c:pt>
              </c:strCache>
            </c:strRef>
          </c:tx>
          <c:spPr>
            <a:solidFill>
              <a:srgbClr val="F4A259"/>
            </a:solidFill>
          </c:spPr>
          <c:cat>
            <c:strRef>
              <c:f>Sheet1!$A$2:$A$6</c:f>
              <c:strCache>
                <c:ptCount val="5"/>
                <c:pt idx="0">
                  <c:v>1050</c:v>
                </c:pt>
                <c:pt idx="1">
                  <c:v>1200</c:v>
                </c:pt>
                <c:pt idx="2">
                  <c:v>1450</c:v>
                </c:pt>
                <c:pt idx="3">
                  <c:v>1550</c:v>
                </c:pt>
                <c:pt idx="4">
                  <c:v>1650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9.5</c:v>
                </c:pt>
                <c:pt idx="1">
                  <c:v>6.6</c:v>
                </c:pt>
                <c:pt idx="2">
                  <c:v>14.4</c:v>
                </c:pt>
                <c:pt idx="3">
                  <c:v>6.1</c:v>
                </c:pt>
                <c:pt idx="4">
                  <c:v>8.3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ΔMAE permuted</c:v>
                </c:pt>
              </c:strCache>
            </c:strRef>
          </c:tx>
          <c:spPr>
            <a:solidFill>
              <a:srgbClr val="D7263D"/>
            </a:solidFill>
          </c:spPr>
          <c:cat>
            <c:strRef>
              <c:f>Sheet1!$A$2:$A$6</c:f>
              <c:strCache>
                <c:ptCount val="5"/>
                <c:pt idx="0">
                  <c:v>1050</c:v>
                </c:pt>
                <c:pt idx="1">
                  <c:v>1200</c:v>
                </c:pt>
                <c:pt idx="2">
                  <c:v>1450</c:v>
                </c:pt>
                <c:pt idx="3">
                  <c:v>1550</c:v>
                </c:pt>
                <c:pt idx="4">
                  <c:v>1650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-3.6</c:v>
                </c:pt>
                <c:pt idx="1">
                  <c:v>-3.6</c:v>
                </c:pt>
                <c:pt idx="2">
                  <c:v>-1.0</c:v>
                </c:pt>
                <c:pt idx="3">
                  <c:v>-4.0</c:v>
                </c:pt>
                <c:pt idx="4">
                  <c:v>-2.8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>
                  <a:solidFill>
                    <a:srgbClr val="1A1D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8F1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4E8F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5B617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deck of the EarSpectro glucose-prediction framework: formulas, architecture, pipeline, data and first results. All results come from synthetic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task is framed as spectral disentanglement and generalisation, not plain regression.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results validate the pipeline and probe design questions. They are not device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box is a module in the earspectro package. Everything after the split is fitted on training subjects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Glucose adds roughly 0.002 OD per 100 mg/dL at its strongest band, against ~0.1 OD of between-subject tissue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Modified Beer–Lambert style absorbance with subject, session and timepoint effects. Glucose band strength gamma is a free parameter.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Band positions follow published NIR assignments; values are approximations, not measured spectra.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Metadata is retained for confounding and subgroup analysis and is never fed to the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checks are unsupervised and fitted on the training fold. One bad property is enough to reject a spectrum because Q is a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transforms run inside the sklearn Pipeline, so anything with state (MSC reference) is fitted on training subjects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5 wavelengths Track B gives 45 features: 5 raw, 30 pairwise, 4 slopes, 3 curvatures, area, mean and std.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all-subsets table is descriptive only. Picking its best row would be selection on the test folds.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Hyper-parameters for PLSR (components) and SVR (C, gamma) are tuned with inner GroupKFold over training subjects.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are wrapped as sklearn regressors. Inputs and targets are standardised inside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Squares stand for subjects. Random splits put the same person in train and test, so a model can memorise the person instead of glucose.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R² alone can hide clinically unacceptable errors, so every result also reports Clarke zones and per-subject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k is scored on the same evaluation timepoints (index 5 onward), so the curves are comparable.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Dense-spectrum dataset. Positive R² on a random split turns negative for most models on unseen subjects.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Unseen-subject R² for the same models across the three datasets. Mean predictor shown as zero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Spread = worst minus best MAE across the 10 preprocessing variants, unseen subjects, dense spectrum.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Nested curve: the best subset of each size is chosen on inner folds of training subjects, then scored on held-out subjects. Dashed level: mean predictor (MAE 43.1).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PLSR, unseen subjects. ref_only predicts the mean of the calibration readings and ignores spectra.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Permutation importance on held-out subjects, averaged over 5 folds. Dense PLSR peaks at 1440–1500 nm, the flank of the water band where the temperature confounder 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Zone A: clinically accurate; B: benign; C–E: would lead to wrong treatment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evidence only; every row must be re-tested on real EarSpectro recordings.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Methods references verified against OpenAlex except Hale &amp; Querry (not found by the lookup). Survey papers are cited as named in the EarSpectro literature survey.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8.xml"/><Relationship Id="rId4" Type="http://schemas.openxmlformats.org/officeDocument/2006/relationships/chart" Target="../charts/chart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A259"/>
                </a:solidFill>
                <a:latin typeface="Calibri"/>
              </a:rPr>
              <a:t>NON-INVASIVE GLUCOSE · NEAR-INFRARED SPECTROSCOPY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EarSpectro: predicting blood glucose from earlobe NIR spectra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9CEEA"/>
                </a:solidFill>
                <a:latin typeface="Calibri"/>
              </a:rPr>
              <a:t>ML / DL framework, end-to-end pipeline, formulas, architectures and first results on synthetic data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4800600"/>
            <a:ext cx="731520" cy="731520"/>
          </a:xfrm>
          <a:prstGeom prst="ellipse">
            <a:avLst/>
          </a:prstGeom>
          <a:solidFill>
            <a:srgbClr val="C9C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48006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A1D3A"/>
                </a:solidFill>
                <a:latin typeface="Calibri"/>
              </a:rPr>
              <a:t>1050</a:t>
            </a:r>
          </a:p>
        </p:txBody>
      </p:sp>
      <p:sp>
        <p:nvSpPr>
          <p:cNvPr id="7" name="Oval 6"/>
          <p:cNvSpPr/>
          <p:nvPr/>
        </p:nvSpPr>
        <p:spPr>
          <a:xfrm>
            <a:off x="1783080" y="4800600"/>
            <a:ext cx="731520" cy="731520"/>
          </a:xfrm>
          <a:prstGeom prst="ellipse">
            <a:avLst/>
          </a:prstGeom>
          <a:solidFill>
            <a:srgbClr val="C9C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783080" y="48006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A1D3A"/>
                </a:solidFill>
                <a:latin typeface="Calibri"/>
              </a:rPr>
              <a:t>1200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4800600"/>
            <a:ext cx="731520" cy="73152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743200" y="48006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A1D3A"/>
                </a:solidFill>
                <a:latin typeface="Calibri"/>
              </a:rPr>
              <a:t>1450</a:t>
            </a:r>
          </a:p>
        </p:txBody>
      </p:sp>
      <p:sp>
        <p:nvSpPr>
          <p:cNvPr id="11" name="Oval 10"/>
          <p:cNvSpPr/>
          <p:nvPr/>
        </p:nvSpPr>
        <p:spPr>
          <a:xfrm>
            <a:off x="3703320" y="4800600"/>
            <a:ext cx="731520" cy="73152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703320" y="48006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1550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4800600"/>
            <a:ext cx="731520" cy="73152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663440" y="48006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1650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49377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C9CEEA"/>
                </a:solidFill>
                <a:latin typeface="Calibri"/>
              </a:rPr>
              <a:t>nm · the five EarSpectro LED wavelengths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9CEEA"/>
                </a:solidFill>
                <a:latin typeface="Calibri"/>
              </a:rPr>
              <a:t>github.com/Nishanth-nishu/glycemico-pred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Can earlobe NIR spectra predict glucose in people the model never saw?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11064240" cy="14173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1A1D3A"/>
                </a:solidFill>
                <a:latin typeface="Calibri"/>
              </a:rPr>
              <a:t>Do multi-wavelength NIR measurements from the earlobe carry reproducible glucose information for subject-independent prediction, and which preprocessing, wavelength set, model and calibration give the most robust mapping from ear spectra to reference glucose?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7263D"/>
                </a:solidFill>
                <a:latin typeface="Calibri"/>
              </a:rPr>
              <a:t>Regression formulation</a:t>
            </a:r>
          </a:p>
        </p:txBody>
      </p:sp>
      <p:pic>
        <p:nvPicPr>
          <p:cNvPr id="9" name="Picture 8" descr="Formula: probl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0"/>
            <a:ext cx="3453383" cy="3945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343400"/>
            <a:ext cx="5303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630"/>
              </a:spcAft>
              <a:buChar char="•"/>
            </a:pPr>
            <a:r>
              <a:rPr sz="1400" b="0" i="0">
                <a:solidFill>
                  <a:srgbClr val="1A1D3A"/>
                </a:solidFill>
                <a:latin typeface="Calibri"/>
              </a:rPr>
              <a:t>x: absorbance at p wavelengths (5 LEDs: 1050, 1200, 1450, 1550, 1650 nm)</a:t>
            </a:r>
          </a:p>
          <a:p>
            <a:pPr algn="l" marL="201168" indent="-201168">
              <a:spcAft>
                <a:spcPts val="630"/>
              </a:spcAft>
              <a:buChar char="•"/>
            </a:pPr>
            <a:r>
              <a:rPr sz="1400" b="0" i="0">
                <a:solidFill>
                  <a:srgbClr val="1A1D3A"/>
                </a:solidFill>
                <a:latin typeface="Calibri"/>
              </a:rPr>
              <a:t>y: reference blood glucose (mg/dL)</a:t>
            </a:r>
          </a:p>
          <a:p>
            <a:pPr algn="l" marL="201168" indent="-201168">
              <a:spcAft>
                <a:spcPts val="630"/>
              </a:spcAft>
              <a:buChar char="•"/>
            </a:pPr>
            <a:r>
              <a:rPr sz="1400" b="0" i="0">
                <a:solidFill>
                  <a:srgbClr val="1A1D3A"/>
                </a:solidFill>
                <a:latin typeface="Calibri"/>
              </a:rPr>
              <a:t>Glucose changes absorbance by ~0.1% of the total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2461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7263D"/>
                </a:solidFill>
                <a:latin typeface="Calibri"/>
              </a:rPr>
              <a:t>What the model should really learn</a:t>
            </a:r>
          </a:p>
        </p:txBody>
      </p:sp>
      <p:pic>
        <p:nvPicPr>
          <p:cNvPr id="12" name="Picture 11" descr="Formula: fxq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657600"/>
            <a:ext cx="1599027" cy="4178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09360" y="4343400"/>
            <a:ext cx="5303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630"/>
              </a:spcAft>
              <a:buChar char="•"/>
            </a:pPr>
            <a:r>
              <a:rPr sz="1400" b="0" i="0">
                <a:solidFill>
                  <a:srgbClr val="1A1D3A"/>
                </a:solidFill>
                <a:latin typeface="Calibri"/>
              </a:rPr>
              <a:t>x: the spectrum</a:t>
            </a:r>
          </a:p>
          <a:p>
            <a:pPr algn="l" marL="201168" indent="-201168">
              <a:spcAft>
                <a:spcPts val="630"/>
              </a:spcAft>
              <a:buChar char="•"/>
            </a:pPr>
            <a:r>
              <a:rPr sz="1400" b="0" i="0">
                <a:solidFill>
                  <a:srgbClr val="1A1D3A"/>
                </a:solidFill>
                <a:latin typeface="Calibri"/>
              </a:rPr>
              <a:t>q: signal-quality information (QC score Q)</a:t>
            </a:r>
          </a:p>
          <a:p>
            <a:pPr algn="l" marL="201168" indent="-201168">
              <a:spcAft>
                <a:spcPts val="630"/>
              </a:spcAft>
              <a:buChar char="•"/>
            </a:pPr>
            <a:r>
              <a:rPr sz="1400" b="0" i="0">
                <a:solidFill>
                  <a:srgbClr val="1A1D3A"/>
                </a:solidFill>
                <a:latin typeface="Calibri"/>
              </a:rPr>
              <a:t>c: calibration / subject information</a:t>
            </a:r>
          </a:p>
          <a:p>
            <a:pPr algn="l" marL="201168" indent="-201168">
              <a:spcAft>
                <a:spcPts val="630"/>
              </a:spcAft>
              <a:buChar char="•"/>
            </a:pPr>
            <a:r>
              <a:rPr sz="1400" b="0" i="0">
                <a:solidFill>
                  <a:srgbClr val="1A1D3A"/>
                </a:solidFill>
                <a:latin typeface="Calibri"/>
              </a:rPr>
              <a:t>Output target: (Ĝ, Q, U), the prediction, quality and uncertainty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Five findings so far, on synthetic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606040" cy="30175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B998B"/>
                </a:solidFill>
                <a:latin typeface="Cambria"/>
              </a:rPr>
              <a:t>0.54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D3A"/>
                </a:solidFill>
                <a:latin typeface="Calibri"/>
              </a:rPr>
              <a:t>R² on unseen subjects (positive control)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170"/>
                </a:solidFill>
                <a:latin typeface="Calibri"/>
              </a:rPr>
              <a:t>The pipeline finds glucose when the signal is there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0420" y="1554480"/>
            <a:ext cx="2606040" cy="30175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543300" y="173736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D7263D"/>
                </a:solidFill>
                <a:latin typeface="Cambria"/>
              </a:rPr>
              <a:t>&lt;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3300" y="274320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D3A"/>
                </a:solidFill>
                <a:latin typeface="Calibri"/>
              </a:rPr>
              <a:t>R² with 5 LEDs at realistic glucose strength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3300" y="361188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170"/>
                </a:solidFill>
                <a:latin typeface="Calibri"/>
              </a:rPr>
              <a:t>No model beats predicting the mean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554480"/>
            <a:ext cx="2606040" cy="30175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B998B"/>
                </a:solidFill>
                <a:latin typeface="Cambria"/>
              </a:rPr>
              <a:t>0.38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74320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D3A"/>
                </a:solidFill>
                <a:latin typeface="Calibri"/>
              </a:rPr>
              <a:t>R² with a dense 1000–1700 nm spectrum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61188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170"/>
                </a:solidFill>
                <a:latin typeface="Calibri"/>
              </a:rPr>
              <a:t>Same physiology, many more channels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83980" y="1554480"/>
            <a:ext cx="2606040" cy="30175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66860" y="173736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D7263D"/>
                </a:solidFill>
                <a:latin typeface="Cambria"/>
              </a:rPr>
              <a:t>-0.09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6860" y="274320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D3A"/>
                </a:solidFill>
                <a:latin typeface="Calibri"/>
              </a:rPr>
              <a:t>FFNN R² on unseen subjects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860" y="361188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170"/>
                </a:solidFill>
                <a:latin typeface="Calibri"/>
              </a:rPr>
              <a:t>Same model scores 0.60 on a random split: random splits overstate accuracy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46320"/>
            <a:ext cx="11064240" cy="132588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E4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777240" y="5120640"/>
            <a:ext cx="502920" cy="50292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77240" y="51206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A1D3A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983480"/>
            <a:ext cx="99669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A1D3A"/>
                </a:solidFill>
                <a:latin typeface="Calibri"/>
              </a:rPr>
              <a:t>Calibration gain is mostly the reference level. </a:t>
            </a:r>
            <a:r>
              <a:rPr sz="1500" b="0" i="0">
                <a:solidFill>
                  <a:srgbClr val="1A1D3A"/>
                </a:solidFill>
                <a:latin typeface="Calibri"/>
              </a:rPr>
              <a:t>A spectra-free control (mean of the calibration readings) matches every calibrated model on 5 LEDs. On the dense spectrum the optical model adds ~4 mg/dL on top.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83080"/>
            <a:ext cx="2743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F4A259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290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Pipeline, data and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9CEEA"/>
                </a:solidFill>
                <a:latin typeface="Calibri"/>
              </a:rPr>
              <a:t>Signal model · dataset · QC · preprocessing · features · models · evaluation · calibration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End-to-end pipeline: from raw ear spectrum to (Ĝ, Q, 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627632" cy="14173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658368" y="1709928"/>
            <a:ext cx="347472" cy="347472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13055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D3A"/>
                </a:solidFill>
                <a:latin typeface="Calibri"/>
              </a:rPr>
              <a:t>Ear NIR acquisition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57860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170"/>
                </a:solidFill>
                <a:latin typeface="Calibri"/>
              </a:rPr>
              <a:t>5 LEDs · repeats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72384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B6170"/>
                </a:solidFill>
                <a:latin typeface="Calibri"/>
              </a:rPr>
              <a:t>data/io.py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03703" y="2308860"/>
            <a:ext cx="204826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35961" y="1600200"/>
            <a:ext cx="1627632" cy="14173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2545689" y="1709928"/>
            <a:ext cx="347472" cy="347472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545689" y="17099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3977" y="213055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D3A"/>
                </a:solidFill>
                <a:latin typeface="Calibri"/>
              </a:rPr>
              <a:t>Reference sync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3977" y="257860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170"/>
                </a:solidFill>
                <a:latin typeface="Calibri"/>
              </a:rPr>
              <a:t>nearest G within 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5961" y="3072384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B6170"/>
                </a:solidFill>
                <a:latin typeface="Calibri"/>
              </a:rPr>
              <a:t>data/io.py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91025" y="2308860"/>
            <a:ext cx="204826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23283" y="1600200"/>
            <a:ext cx="1627632" cy="1417320"/>
          </a:xfrm>
          <a:prstGeom prst="roundRect">
            <a:avLst>
              <a:gd name="adj" fmla="val 8000"/>
            </a:avLst>
          </a:prstGeom>
          <a:solidFill>
            <a:srgbClr val="1A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4433011" y="1709928"/>
            <a:ext cx="347472" cy="347472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433011" y="17099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1299" y="213055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1299" y="257860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9CEEA"/>
                </a:solidFill>
                <a:latin typeface="Calibri"/>
              </a:rPr>
              <a:t>Q score · reject &lt; 0.5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3283" y="3072384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B6170"/>
                </a:solidFill>
                <a:latin typeface="Calibri"/>
              </a:rPr>
              <a:t>qc.py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78347" y="2308860"/>
            <a:ext cx="204825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10604" y="1600200"/>
            <a:ext cx="1627632" cy="14173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6320332" y="1709928"/>
            <a:ext cx="347472" cy="347472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320332" y="17099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8620" y="213055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D3A"/>
                </a:solidFill>
                <a:latin typeface="Calibri"/>
              </a:rPr>
              <a:t>Preprocessing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8620" y="257860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170"/>
                </a:solidFill>
                <a:latin typeface="Calibri"/>
              </a:rPr>
              <a:t>SG · SNV · MSC · d1/d2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0604" y="3072384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B6170"/>
                </a:solidFill>
                <a:latin typeface="Calibri"/>
              </a:rPr>
              <a:t>preprocessing.py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865668" y="2308860"/>
            <a:ext cx="204826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097926" y="1600200"/>
            <a:ext cx="1627632" cy="14173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207654" y="1709928"/>
            <a:ext cx="347472" cy="347472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207654" y="17099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5942" y="213055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D3A"/>
                </a:solidFill>
                <a:latin typeface="Calibri"/>
              </a:rPr>
              <a:t>Representation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5942" y="257860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170"/>
                </a:solidFill>
                <a:latin typeface="Calibri"/>
              </a:rPr>
              <a:t>Track A spectrum · B features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7926" y="3072384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B6170"/>
                </a:solidFill>
                <a:latin typeface="Calibri"/>
              </a:rPr>
              <a:t>features.py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752990" y="2308860"/>
            <a:ext cx="204826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985248" y="1600200"/>
            <a:ext cx="1627632" cy="14173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10094976" y="1709928"/>
            <a:ext cx="347472" cy="347472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094976" y="17099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13264" y="213055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D3A"/>
                </a:solidFill>
                <a:latin typeface="Calibri"/>
              </a:rPr>
              <a:t>Feature / λ selection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13264" y="257860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170"/>
                </a:solidFill>
                <a:latin typeface="Calibri"/>
              </a:rPr>
              <a:t>corr · mRMR · RFE · nested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85248" y="3072384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B6170"/>
                </a:solidFill>
                <a:latin typeface="Calibri"/>
              </a:rPr>
              <a:t>selection.py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799064" y="3337560"/>
            <a:ext cx="0" cy="45720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985248" y="3840480"/>
            <a:ext cx="1627632" cy="14173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10094976" y="3950208"/>
            <a:ext cx="347472" cy="347472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0094976" y="395020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3264" y="437083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D3A"/>
                </a:solidFill>
                <a:latin typeface="Calibri"/>
              </a:rPr>
              <a:t>Classical ML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13264" y="481888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170"/>
                </a:solidFill>
                <a:latin typeface="Calibri"/>
              </a:rPr>
              <a:t>PLSR · SVR · RF · XGB · CatBoost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85248" y="5312664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B6170"/>
                </a:solidFill>
                <a:latin typeface="Calibri"/>
              </a:rPr>
              <a:t>models/classical.py</a:t>
            </a:r>
          </a:p>
        </p:txBody>
      </p:sp>
      <p:cxnSp>
        <p:nvCxnSpPr>
          <p:cNvPr id="54" name="Connector 53"/>
          <p:cNvCxnSpPr/>
          <p:nvPr/>
        </p:nvCxnSpPr>
        <p:spPr>
          <a:xfrm flipH="1">
            <a:off x="9752990" y="4549140"/>
            <a:ext cx="204826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8097926" y="3840480"/>
            <a:ext cx="1627632" cy="14173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8207654" y="3950208"/>
            <a:ext cx="347472" cy="347472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8207654" y="395020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5942" y="437083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D3A"/>
                </a:solidFill>
                <a:latin typeface="Calibri"/>
              </a:rPr>
              <a:t>Neural nets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5942" y="481888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170"/>
                </a:solidFill>
                <a:latin typeface="Calibri"/>
              </a:rPr>
              <a:t>FFNN · 1-D CNN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97926" y="5312664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B6170"/>
                </a:solidFill>
                <a:latin typeface="Calibri"/>
              </a:rPr>
              <a:t>models/nets.py</a:t>
            </a:r>
          </a:p>
        </p:txBody>
      </p:sp>
      <p:cxnSp>
        <p:nvCxnSpPr>
          <p:cNvPr id="61" name="Connector 60"/>
          <p:cNvCxnSpPr/>
          <p:nvPr/>
        </p:nvCxnSpPr>
        <p:spPr>
          <a:xfrm flipH="1">
            <a:off x="7865668" y="4549140"/>
            <a:ext cx="204826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6210604" y="3840480"/>
            <a:ext cx="1627632" cy="1417320"/>
          </a:xfrm>
          <a:prstGeom prst="roundRect">
            <a:avLst>
              <a:gd name="adj" fmla="val 8000"/>
            </a:avLst>
          </a:prstGeom>
          <a:solidFill>
            <a:srgbClr val="1A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6320332" y="3950208"/>
            <a:ext cx="347472" cy="347472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6320332" y="395020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38620" y="437083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Subject-level validation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38620" y="481888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9CEEA"/>
                </a:solidFill>
                <a:latin typeface="Calibri"/>
              </a:rPr>
              <a:t>random · subject · session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10604" y="5312664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B6170"/>
                </a:solidFill>
                <a:latin typeface="Calibri"/>
              </a:rPr>
              <a:t>splits.py</a:t>
            </a:r>
          </a:p>
        </p:txBody>
      </p:sp>
      <p:cxnSp>
        <p:nvCxnSpPr>
          <p:cNvPr id="68" name="Connector 67"/>
          <p:cNvCxnSpPr/>
          <p:nvPr/>
        </p:nvCxnSpPr>
        <p:spPr>
          <a:xfrm flipH="1">
            <a:off x="5978347" y="4549140"/>
            <a:ext cx="204825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4323283" y="3840480"/>
            <a:ext cx="1627632" cy="1417320"/>
          </a:xfrm>
          <a:prstGeom prst="roundRect">
            <a:avLst>
              <a:gd name="adj" fmla="val 8000"/>
            </a:avLst>
          </a:prstGeom>
          <a:solidFill>
            <a:srgbClr val="1A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4433011" y="3950208"/>
            <a:ext cx="347472" cy="347472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4433011" y="395020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51299" y="437083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Calibration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51299" y="481888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9CEEA"/>
                </a:solidFill>
                <a:latin typeface="Calibri"/>
              </a:rPr>
              <a:t>0 / 1 / 2 / 3 / 5 points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23283" y="5312664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B6170"/>
                </a:solidFill>
                <a:latin typeface="Calibri"/>
              </a:rPr>
              <a:t>calibration.py</a:t>
            </a:r>
          </a:p>
        </p:txBody>
      </p:sp>
      <p:cxnSp>
        <p:nvCxnSpPr>
          <p:cNvPr id="75" name="Connector 74"/>
          <p:cNvCxnSpPr/>
          <p:nvPr/>
        </p:nvCxnSpPr>
        <p:spPr>
          <a:xfrm flipH="1">
            <a:off x="4091025" y="4549140"/>
            <a:ext cx="204826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2435961" y="3840480"/>
            <a:ext cx="1627632" cy="14173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2545689" y="3950208"/>
            <a:ext cx="347472" cy="347472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2545689" y="395020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63977" y="437083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D3A"/>
                </a:solidFill>
                <a:latin typeface="Calibri"/>
              </a:rPr>
              <a:t>Explainability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563977" y="481888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170"/>
                </a:solidFill>
                <a:latin typeface="Calibri"/>
              </a:rPr>
              <a:t>permutation · SHAP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435961" y="5312664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B6170"/>
                </a:solidFill>
                <a:latin typeface="Calibri"/>
              </a:rPr>
              <a:t>explain.py</a:t>
            </a:r>
          </a:p>
        </p:txBody>
      </p:sp>
      <p:cxnSp>
        <p:nvCxnSpPr>
          <p:cNvPr id="82" name="Connector 81"/>
          <p:cNvCxnSpPr/>
          <p:nvPr/>
        </p:nvCxnSpPr>
        <p:spPr>
          <a:xfrm flipH="1">
            <a:off x="2203704" y="4549140"/>
            <a:ext cx="204825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548640" y="3840480"/>
            <a:ext cx="1627632" cy="14173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658368" y="3950208"/>
            <a:ext cx="347472" cy="347472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658368" y="395020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76656" y="437083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D3A"/>
                </a:solidFill>
                <a:latin typeface="Calibri"/>
              </a:rPr>
              <a:t>Output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6656" y="481888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170"/>
                </a:solidFill>
                <a:latin typeface="Calibri"/>
              </a:rPr>
              <a:t>Ĝ + Q (+ U planned)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5312664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B6170"/>
                </a:solidFill>
                <a:latin typeface="Calibri"/>
              </a:rPr>
              <a:t>metrics.py · plots.py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Dark boxes: the stages that most affect whether results generalise (quality gate, subject-level validation, calibration).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SIGNAL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The measured spectrum is a mixture; glucose is a tiny part of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Formula: mix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8190210" cy="365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2331720"/>
            <a:ext cx="5029200" cy="530352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2368296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D7263D"/>
                </a:solidFill>
                <a:latin typeface="Calibri"/>
              </a:rPr>
              <a:t>s_glucose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368296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C–H/O–H overtones ~1530–1690 nm, ~1130 nm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53512"/>
            <a:ext cx="5029200" cy="530352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2990088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A1D3A"/>
                </a:solidFill>
                <a:latin typeface="Calibri"/>
              </a:rPr>
              <a:t>s_water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990088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dominant; 1450 nm band, shifts with temperature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75304"/>
            <a:ext cx="5029200" cy="530352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36118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A1D3A"/>
                </a:solidFill>
                <a:latin typeface="Calibri"/>
              </a:rPr>
              <a:t>s_tissue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1188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lipid ~1210 nm, protein ~1180/1500 nm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97096"/>
            <a:ext cx="5029200" cy="530352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4233672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A1D3A"/>
                </a:solidFill>
                <a:latin typeface="Calibri"/>
              </a:rPr>
              <a:t>s_Hb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4233672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falls off smoothly above 1000 nm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18888"/>
            <a:ext cx="5029200" cy="530352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1520" y="4855464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A1D3A"/>
                </a:solidFill>
                <a:latin typeface="Calibri"/>
              </a:rPr>
              <a:t>s_scatter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4855464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a·(λ/1000)^-b, varies per subject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40680"/>
            <a:ext cx="5029200" cy="530352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31520" y="5477256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A1D3A"/>
                </a:solidFill>
                <a:latin typeface="Calibri"/>
              </a:rPr>
              <a:t>s_motion / s_sensor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477256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offsets, gain, tilt, ambient light</a:t>
            </a:r>
          </a:p>
        </p:txBody>
      </p:sp>
      <p:pic>
        <p:nvPicPr>
          <p:cNvPr id="25" name="Picture 24" descr="Left: median absorbance spectrum per subject. Right: change in absorbance over one OGTT session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286000"/>
            <a:ext cx="5760720" cy="20948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897880" y="4983480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Left: subjects differ by far more than glucose ever moves the spectrum. Right: change in one session over the glucose test, mostly water/temperature.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Synthetic ear-NIR generator (stand-in until real recordings exist)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ormula: absor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81328"/>
            <a:ext cx="9423947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L_s path length · w, l, p, h tissue fractions · δT skin-temperature shift · γ glucose band strength · g_s subject response · a, b scatter · o, τ gain and tilt · ε sensor noise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7263D"/>
                </a:solidFill>
                <a:latin typeface="Calibri"/>
              </a:rPr>
              <a:t>Glucose trajectory: OGTT-shaped</a:t>
            </a:r>
          </a:p>
        </p:txBody>
      </p:sp>
      <p:pic>
        <p:nvPicPr>
          <p:cNvPr id="9" name="Picture 8" descr="Formula: ogt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63240"/>
            <a:ext cx="3826412" cy="4525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3977639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630"/>
              </a:spcAft>
              <a:buChar char="•"/>
            </a:pPr>
            <a:r>
              <a:rPr sz="1400" b="0" i="0">
                <a:solidFill>
                  <a:srgbClr val="1A1D3A"/>
                </a:solidFill>
                <a:latin typeface="Calibri"/>
              </a:rPr>
              <a:t>Normoglycaemic: G₀ ≈ 92, ΔG ≈ 55, peak ≈ 45 min</a:t>
            </a:r>
          </a:p>
          <a:p>
            <a:pPr algn="l" marL="201168" indent="-201168">
              <a:spcAft>
                <a:spcPts val="630"/>
              </a:spcAft>
              <a:buChar char="•"/>
            </a:pPr>
            <a:r>
              <a:rPr sz="1400" b="0" i="0">
                <a:solidFill>
                  <a:srgbClr val="1A1D3A"/>
                </a:solidFill>
                <a:latin typeface="Calibri"/>
              </a:rPr>
              <a:t>Diabetic (30%): G₀ ≈ 140, ΔG ≈ 110, peak ≈ 70 min</a:t>
            </a:r>
          </a:p>
          <a:p>
            <a:pPr algn="l" marL="201168" indent="-201168">
              <a:spcAft>
                <a:spcPts val="630"/>
              </a:spcAft>
              <a:buChar char="•"/>
            </a:pPr>
            <a:r>
              <a:rPr sz="1400" b="0" i="0">
                <a:solidFill>
                  <a:srgbClr val="1A1D3A"/>
                </a:solidFill>
                <a:latin typeface="Calibri"/>
              </a:rPr>
              <a:t>Reference meter error: 5% CV</a:t>
            </a:r>
          </a:p>
          <a:p>
            <a:pPr algn="l" marL="201168" indent="-201168">
              <a:spcAft>
                <a:spcPts val="630"/>
              </a:spcAft>
              <a:buChar char="•"/>
            </a:pPr>
            <a:r>
              <a:rPr sz="1400" b="0" i="0">
                <a:solidFill>
                  <a:srgbClr val="1A1D3A"/>
                </a:solidFill>
                <a:latin typeface="Calibri"/>
              </a:rPr>
              <a:t>Confounder: skin temperature drifts after the glucose load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35040" y="2697480"/>
          <a:ext cx="55778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37947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marL="73152" marR="73152" marT="27432" marB="27432" anchor="ctr">
                    <a:solidFill>
                      <a:srgbClr val="1A1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varies</a:t>
                      </a:r>
                    </a:p>
                  </a:txBody>
                  <a:tcPr marL="73152" marR="73152" marT="27432" marB="27432" anchor="ctr">
                    <a:solidFill>
                      <a:srgbClr val="1A1D3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D3A"/>
                          </a:solidFill>
                          <a:latin typeface="Calibri"/>
                        </a:rPr>
                        <a:t>Subject (40)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D3A"/>
                          </a:solidFill>
                          <a:latin typeface="Calibri"/>
                        </a:rPr>
                        <a:t>path length, tissue, Hb, scatter, glucose response, age, sex, skin tone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D3A"/>
                          </a:solidFill>
                          <a:latin typeface="Calibri"/>
                        </a:rPr>
                        <a:t>Session (2 per subject)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D3A"/>
                          </a:solidFill>
                          <a:latin typeface="Calibri"/>
                        </a:rPr>
                        <a:t>LED gain, placement tilt, temperature offset, glucose curve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D3A"/>
                          </a:solidFill>
                          <a:latin typeface="Calibri"/>
                        </a:rPr>
                        <a:t>Timepoint (16 × 10 min)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D3A"/>
                          </a:solidFill>
                          <a:latin typeface="Calibri"/>
                        </a:rPr>
                        <a:t>glucose, temperature drift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D3A"/>
                          </a:solidFill>
                          <a:latin typeface="Calibri"/>
                        </a:rPr>
                        <a:t>Repeat (3 per timepoint)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D3A"/>
                          </a:solidFill>
                          <a:latin typeface="Calibri"/>
                        </a:rPr>
                        <a:t>sensor noise; 3% motion / ambient / saturation / dropout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035040" y="566928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D3A"/>
                </a:solidFill>
                <a:latin typeface="Calibri"/>
              </a:rPr>
              <a:t>40 × 2 × 16 × 3 = 3,840 spectra per dataset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Three dataset variants, each answering a different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520440" cy="25146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6420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D3A"/>
                </a:solidFill>
                <a:latin typeface="Cambria"/>
              </a:rPr>
              <a:t>ear5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B6170"/>
                </a:solidFill>
                <a:latin typeface="Calibri"/>
              </a:rPr>
              <a:t>The device as designed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585"/>
              </a:spcAft>
              <a:buChar char="•"/>
            </a:pPr>
            <a:r>
              <a:rPr sz="1300" b="0" i="0">
                <a:solidFill>
                  <a:srgbClr val="1A1D3A"/>
                </a:solidFill>
                <a:latin typeface="Calibri"/>
              </a:rPr>
              <a:t>5 LEDs: 1050–1650 nm</a:t>
            </a:r>
          </a:p>
          <a:p>
            <a:pPr algn="l" marL="201168" indent="-201168">
              <a:spcAft>
                <a:spcPts val="585"/>
              </a:spcAft>
              <a:buChar char="•"/>
            </a:pPr>
            <a:r>
              <a:rPr sz="1300" b="0" i="0">
                <a:solidFill>
                  <a:srgbClr val="1A1D3A"/>
                </a:solidFill>
                <a:latin typeface="Calibri"/>
              </a:rPr>
              <a:t>γ = 2×10⁻⁵ OD per mg/dL</a:t>
            </a:r>
          </a:p>
          <a:p>
            <a:pPr algn="l" marL="201168" indent="-201168">
              <a:spcAft>
                <a:spcPts val="585"/>
              </a:spcAft>
              <a:buChar char="•"/>
            </a:pPr>
            <a:r>
              <a:rPr sz="1300" b="0" i="0">
                <a:solidFill>
                  <a:srgbClr val="1A1D3A"/>
                </a:solidFill>
                <a:latin typeface="Calibri"/>
              </a:rPr>
              <a:t>noise 1.5×10⁻³ OD</a:t>
            </a:r>
          </a:p>
          <a:p>
            <a:pPr algn="l" marL="201168" indent="-201168">
              <a:spcAft>
                <a:spcPts val="585"/>
              </a:spcAft>
              <a:buChar char="•"/>
            </a:pPr>
            <a:r>
              <a:rPr sz="1300" b="0" i="0">
                <a:solidFill>
                  <a:srgbClr val="1A1D3A"/>
                </a:solidFill>
                <a:latin typeface="Calibri"/>
              </a:rPr>
              <a:t>temperature confounder 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08760"/>
            <a:ext cx="3520440" cy="25146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79" y="166420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998B"/>
                </a:solidFill>
                <a:latin typeface="Cambria"/>
              </a:rPr>
              <a:t>dense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1031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B6170"/>
                </a:solidFill>
                <a:latin typeface="Calibri"/>
              </a:rPr>
              <a:t>What a spectrometer would see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51460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585"/>
              </a:spcAft>
              <a:buChar char="•"/>
            </a:pPr>
            <a:r>
              <a:rPr sz="1300" b="0" i="0">
                <a:solidFill>
                  <a:srgbClr val="1A1D3A"/>
                </a:solidFill>
                <a:latin typeface="Calibri"/>
              </a:rPr>
              <a:t>141 points, 1000–1700 nm, 5 nm step</a:t>
            </a:r>
          </a:p>
          <a:p>
            <a:pPr algn="l" marL="201168" indent="-201168">
              <a:spcAft>
                <a:spcPts val="585"/>
              </a:spcAft>
              <a:buChar char="•"/>
            </a:pPr>
            <a:r>
              <a:rPr sz="1300" b="0" i="0">
                <a:solidFill>
                  <a:srgbClr val="1A1D3A"/>
                </a:solidFill>
                <a:latin typeface="Calibri"/>
              </a:rPr>
              <a:t>same physiology and γ</a:t>
            </a:r>
          </a:p>
          <a:p>
            <a:pPr algn="l" marL="201168" indent="-201168">
              <a:spcAft>
                <a:spcPts val="585"/>
              </a:spcAft>
              <a:buChar char="•"/>
            </a:pPr>
            <a:r>
              <a:rPr sz="1300" b="0" i="0">
                <a:solidFill>
                  <a:srgbClr val="1A1D3A"/>
                </a:solidFill>
                <a:latin typeface="Calibri"/>
              </a:rPr>
              <a:t>same confounder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508760"/>
            <a:ext cx="3520440" cy="25146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75319" y="166420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D7263D"/>
                </a:solidFill>
                <a:latin typeface="Cambria"/>
              </a:rPr>
              <a:t>control_ear5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1031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B6170"/>
                </a:solidFill>
                <a:latin typeface="Calibri"/>
              </a:rPr>
              <a:t>Positive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51460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585"/>
              </a:spcAft>
              <a:buChar char="•"/>
            </a:pPr>
            <a:r>
              <a:rPr sz="1300" b="0" i="0">
                <a:solidFill>
                  <a:srgbClr val="1A1D3A"/>
                </a:solidFill>
                <a:latin typeface="Calibri"/>
              </a:rPr>
              <a:t>5 LEDs</a:t>
            </a:r>
          </a:p>
          <a:p>
            <a:pPr algn="l" marL="201168" indent="-201168">
              <a:spcAft>
                <a:spcPts val="585"/>
              </a:spcAft>
              <a:buChar char="•"/>
            </a:pPr>
            <a:r>
              <a:rPr sz="1300" b="0" i="0">
                <a:solidFill>
                  <a:srgbClr val="1A1D3A"/>
                </a:solidFill>
                <a:latin typeface="Calibri"/>
              </a:rPr>
              <a:t>γ = 1×10⁻⁴ (5× stronger)</a:t>
            </a:r>
          </a:p>
          <a:p>
            <a:pPr algn="l" marL="201168" indent="-201168">
              <a:spcAft>
                <a:spcPts val="585"/>
              </a:spcAft>
              <a:buChar char="•"/>
            </a:pPr>
            <a:r>
              <a:rPr sz="1300" b="0" i="0">
                <a:solidFill>
                  <a:srgbClr val="1A1D3A"/>
                </a:solidFill>
                <a:latin typeface="Calibri"/>
              </a:rPr>
              <a:t>confounder off</a:t>
            </a:r>
          </a:p>
          <a:p>
            <a:pPr algn="l" marL="201168" indent="-201168">
              <a:spcAft>
                <a:spcPts val="585"/>
              </a:spcAft>
              <a:buChar char="•"/>
            </a:pPr>
            <a:r>
              <a:rPr sz="1300" b="0" i="0">
                <a:solidFill>
                  <a:srgbClr val="1A1D3A"/>
                </a:solidFill>
                <a:latin typeface="Calibri"/>
              </a:rPr>
              <a:t>proves the pipeline can find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5196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7263D"/>
                </a:solidFill>
                <a:latin typeface="Calibri"/>
              </a:rPr>
              <a:t>Where the numbers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17720"/>
            <a:ext cx="110642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585"/>
              </a:spcAft>
              <a:buChar char="•"/>
            </a:pPr>
            <a:r>
              <a:rPr sz="1300" b="0" i="0">
                <a:solidFill>
                  <a:srgbClr val="1A1D3A"/>
                </a:solidFill>
                <a:latin typeface="Calibri"/>
              </a:rPr>
              <a:t>Glucose NIR band positions: Amerov, Chen &amp; Arnold (2004), Applied Spectroscopy 58(10) — molar absorptivities of glucose, first overtone and combination regions</a:t>
            </a:r>
          </a:p>
          <a:p>
            <a:pPr algn="l" marL="201168" indent="-201168">
              <a:spcAft>
                <a:spcPts val="585"/>
              </a:spcAft>
              <a:buChar char="•"/>
            </a:pPr>
            <a:r>
              <a:rPr sz="1300" b="0" i="0">
                <a:solidFill>
                  <a:srgbClr val="1A1D3A"/>
                </a:solidFill>
                <a:latin typeface="Calibri"/>
              </a:rPr>
              <a:t>Water absorption magnitudes: rough literature values (e.g. Hale &amp; Querry, 1973; citation not auto-verified)</a:t>
            </a:r>
          </a:p>
          <a:p>
            <a:pPr algn="l" marL="201168" indent="-201168">
              <a:spcAft>
                <a:spcPts val="585"/>
              </a:spcAft>
              <a:buChar char="•"/>
            </a:pPr>
            <a:r>
              <a:rPr sz="1300" b="0" i="0">
                <a:solidFill>
                  <a:srgbClr val="1A1D3A"/>
                </a:solidFill>
                <a:latin typeface="Calibri"/>
              </a:rPr>
              <a:t>Lipid, protein, Hb, scatter terms: generic NIR tissue-optics shapes, deliberately approximate</a:t>
            </a:r>
          </a:p>
          <a:p>
            <a:pPr algn="l" marL="201168" indent="-201168">
              <a:spcAft>
                <a:spcPts val="585"/>
              </a:spcAft>
              <a:buChar char="•"/>
            </a:pPr>
            <a:r>
              <a:rPr sz="1300" b="0" i="0">
                <a:solidFill>
                  <a:srgbClr val="1A1D3A"/>
                </a:solidFill>
                <a:latin typeface="Calibri"/>
              </a:rPr>
              <a:t>No real EarSpectro recordings yet. Real data plugs in through the same CSV schema (next slide)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DATA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One row per spectrum, paired with its reference glucose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585216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6576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73152" marR="73152" marT="27432" marB="27432" anchor="ctr">
                    <a:solidFill>
                      <a:srgbClr val="1A1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27432" marB="27432" anchor="ctr">
                    <a:solidFill>
                      <a:srgbClr val="1A1D3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subject_id, session_id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identifiers (required)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timestamp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acquisition time (required for sync)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glucose_ref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reference glucose, mg/dL (target)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A_1050 … A_1650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absorbance per wavelength, −log₁₀(I/I₀)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timepoint, repeat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repeated-measurement structure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age, sex, skin_tone, 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metadata for subgroup analysis only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66560" y="15544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7263D"/>
                </a:solidFill>
                <a:latin typeface="Calibri"/>
              </a:rPr>
              <a:t>Reference synchronisation</a:t>
            </a:r>
          </a:p>
        </p:txBody>
      </p:sp>
      <p:pic>
        <p:nvPicPr>
          <p:cNvPr id="8" name="Picture 7" descr="Formula: syn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011680"/>
            <a:ext cx="4633897" cy="3798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6560" y="274320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630"/>
              </a:spcAft>
              <a:buChar char="•"/>
            </a:pPr>
            <a:r>
              <a:rPr sz="1400" b="0" i="0">
                <a:solidFill>
                  <a:srgbClr val="1A1D3A"/>
                </a:solidFill>
                <a:latin typeface="Calibri"/>
              </a:rPr>
              <a:t>Pair X(t) with G(t), never X(t₁) with G(t₂)</a:t>
            </a:r>
          </a:p>
          <a:p>
            <a:pPr algn="l" marL="201168" indent="-201168">
              <a:spcAft>
                <a:spcPts val="630"/>
              </a:spcAft>
              <a:buChar char="•"/>
            </a:pPr>
            <a:r>
              <a:rPr sz="1400" b="0" i="0">
                <a:solidFill>
                  <a:srgbClr val="1A1D3A"/>
                </a:solidFill>
                <a:latin typeface="Calibri"/>
              </a:rPr>
              <a:t>Spectra with no reading within 5 min are dropped</a:t>
            </a:r>
          </a:p>
          <a:p>
            <a:pPr algn="l" marL="201168" indent="-201168">
              <a:spcAft>
                <a:spcPts val="630"/>
              </a:spcAft>
              <a:buChar char="•"/>
            </a:pPr>
            <a:r>
              <a:rPr sz="1400" b="0" i="0">
                <a:solidFill>
                  <a:srgbClr val="1A1D3A"/>
                </a:solidFill>
                <a:latin typeface="Calibri"/>
              </a:rPr>
              <a:t>The lag is kept as ref_lag_s for error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4297680"/>
            <a:ext cx="4846320" cy="14173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949440" y="4434840"/>
            <a:ext cx="4480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D3A"/>
                </a:solidFill>
                <a:latin typeface="Calibri"/>
              </a:rPr>
              <a:t>Same format for real data: </a:t>
            </a:r>
            <a:r>
              <a:rPr sz="1400" b="0" i="0">
                <a:solidFill>
                  <a:srgbClr val="1A1D3A"/>
                </a:solidFill>
                <a:latin typeface="Calibri"/>
              </a:rPr>
              <a:t>DATA=real.csv sbatch slurm/run_all.sh reruns every experiment on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STAGE 2 · QUALITY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A quality score Q gates every spectrum before 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Formula: robustz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1749083" cy="506436"/>
          </a:xfrm>
          <a:prstGeom prst="rect">
            <a:avLst/>
          </a:prstGeom>
        </p:spPr>
      </p:pic>
      <p:pic>
        <p:nvPicPr>
          <p:cNvPr id="7" name="Picture 6" descr="Formula: qsof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331720"/>
            <a:ext cx="2827606" cy="407963"/>
          </a:xfrm>
          <a:prstGeom prst="rect">
            <a:avLst/>
          </a:prstGeom>
        </p:spPr>
      </p:pic>
      <p:pic>
        <p:nvPicPr>
          <p:cNvPr id="8" name="Picture 7" descr="Formula: qpro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154680"/>
            <a:ext cx="3528646" cy="59553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3977639"/>
            <a:ext cx="2560320" cy="5486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977639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D3A"/>
                </a:solidFill>
                <a:latin typeface="Calibri"/>
              </a:rPr>
              <a:t>missing wavelengths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3977639"/>
            <a:ext cx="2560320" cy="5486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383280" y="3977639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D3A"/>
                </a:solidFill>
                <a:latin typeface="Calibri"/>
              </a:rPr>
              <a:t>absorbance out of range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63440"/>
            <a:ext cx="2560320" cy="5486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85800" y="46634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D3A"/>
                </a:solidFill>
                <a:latin typeface="Calibri"/>
              </a:rPr>
              <a:t>saturation (clipped values)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4663440"/>
            <a:ext cx="2560320" cy="5486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383280" y="46634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D3A"/>
                </a:solidFill>
                <a:latin typeface="Calibri"/>
              </a:rPr>
              <a:t>abnormal amplitude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49240"/>
            <a:ext cx="2560320" cy="5486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5800" y="53492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D3A"/>
                </a:solidFill>
                <a:latin typeface="Calibri"/>
              </a:rPr>
              <a:t>spectral discontinuity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5349240"/>
            <a:ext cx="2560320" cy="5486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383280" y="53492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D3A"/>
                </a:solidFill>
                <a:latin typeface="Calibri"/>
              </a:rPr>
              <a:t>disagreeing repeats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6172200" y="1463040"/>
          <a:ext cx="5440680" cy="438912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172200" y="589788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Clean spectra rejected: 0.05% (2 of 3,732).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STAGE 3 ·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Ten preprocessing variants, compared rather than assumed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4591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7263D"/>
                </a:solidFill>
                <a:latin typeface="Calibri"/>
              </a:rPr>
              <a:t>SNV</a:t>
            </a:r>
          </a:p>
        </p:txBody>
      </p:sp>
      <p:pic>
        <p:nvPicPr>
          <p:cNvPr id="8" name="Picture 7" descr="Formula: snv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03120"/>
            <a:ext cx="1006543" cy="354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80360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removes per-spectrum offset and scale (Barnes et al., 1989)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0876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79" y="164591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7263D"/>
                </a:solidFill>
                <a:latin typeface="Calibri"/>
              </a:rPr>
              <a:t>MSC</a:t>
            </a:r>
          </a:p>
        </p:txBody>
      </p:sp>
      <p:pic>
        <p:nvPicPr>
          <p:cNvPr id="12" name="Picture 11" descr="Formula: ms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79" y="2103120"/>
            <a:ext cx="2715768" cy="3334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26279" y="2880360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regress each spectrum on the training mean (Geladi et al., 1985)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50876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75319" y="164591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7263D"/>
                </a:solidFill>
                <a:latin typeface="Calibri"/>
              </a:rPr>
              <a:t>Savitzky–Golay</a:t>
            </a:r>
          </a:p>
        </p:txBody>
      </p:sp>
      <p:pic>
        <p:nvPicPr>
          <p:cNvPr id="16" name="Picture 15" descr="Formula: s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19" y="2103120"/>
            <a:ext cx="1732436" cy="67946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75319" y="2880360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local polynomial smoothing (Savitzky &amp; Golay, 1964)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49039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3886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7263D"/>
                </a:solidFill>
                <a:latin typeface="Calibri"/>
              </a:rPr>
              <a:t>Derivatives</a:t>
            </a:r>
          </a:p>
        </p:txBody>
      </p:sp>
      <p:pic>
        <p:nvPicPr>
          <p:cNvPr id="20" name="Picture 19" descr="Formula: deriv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343400"/>
            <a:ext cx="2160797" cy="40936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5120640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remove broad baselines, sharpen bands; amplify noise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3749039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26279" y="3886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7263D"/>
                </a:solidFill>
                <a:latin typeface="Calibri"/>
              </a:rPr>
              <a:t>Detrend</a:t>
            </a:r>
          </a:p>
        </p:txBody>
      </p:sp>
      <p:pic>
        <p:nvPicPr>
          <p:cNvPr id="24" name="Picture 23" descr="Formula: detren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79" y="4343400"/>
            <a:ext cx="2519523" cy="3270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26279" y="5120640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remove a linear baseline in λ per spectrum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3749039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1A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75319" y="3886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4A259"/>
                </a:solidFill>
                <a:latin typeface="Calibri"/>
              </a:rPr>
              <a:t>Variants tested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4297679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raw · detrend · sg · snv · msc · d1 · d2 · sg+snv · sg+msc · d1+snv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On the sparse 5-LED grid, SG windows shrink to the available points and derivatives use finite differences on the true wavelength spacing.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STAGE 4 ·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Two tracks: learn from the spectrum, or from engineered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840480" cy="45262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D3A"/>
                </a:solidFill>
                <a:latin typeface="Cambria"/>
              </a:rPr>
              <a:t>Track A · full spectrum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D3A"/>
                </a:solidFill>
                <a:latin typeface="Calibri"/>
              </a:rPr>
              <a:t>X = [A₁₀₅₀, A₁₂₀₀, A₁₄₅₀, A₁₅₅₀, A₁₆₅₀] or 141 dense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3383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630"/>
              </a:spcAft>
              <a:buChar char="•"/>
            </a:pPr>
            <a:r>
              <a:rPr sz="1400" b="0" i="0">
                <a:solidFill>
                  <a:srgbClr val="1A1D3A"/>
                </a:solidFill>
                <a:latin typeface="Calibri"/>
              </a:rPr>
              <a:t>Used by every model, including the 1-D CNN</a:t>
            </a:r>
          </a:p>
          <a:p>
            <a:pPr algn="l" marL="201168" indent="-201168">
              <a:spcAft>
                <a:spcPts val="630"/>
              </a:spcAft>
              <a:buChar char="•"/>
            </a:pPr>
            <a:r>
              <a:rPr sz="1400" b="0" i="0">
                <a:solidFill>
                  <a:srgbClr val="1A1D3A"/>
                </a:solidFill>
                <a:latin typeface="Calibri"/>
              </a:rPr>
              <a:t>Keeps spectral order for convolution</a:t>
            </a:r>
          </a:p>
          <a:p>
            <a:pPr algn="l" marL="201168" indent="-201168">
              <a:spcAft>
                <a:spcPts val="630"/>
              </a:spcAft>
              <a:buChar char="•"/>
            </a:pPr>
            <a:r>
              <a:rPr sz="1400" b="0" i="0">
                <a:solidFill>
                  <a:srgbClr val="1A1D3A"/>
                </a:solidFill>
                <a:latin typeface="Calibri"/>
              </a:rPr>
              <a:t>Preprocessing applied 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508760"/>
            <a:ext cx="6949440" cy="45262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892040" y="1691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D3A"/>
                </a:solidFill>
                <a:latin typeface="Cambria"/>
              </a:rPr>
              <a:t>Track B · engineered features (45 for 5 λ)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2402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ratio</a:t>
            </a:r>
          </a:p>
        </p:txBody>
      </p:sp>
      <p:pic>
        <p:nvPicPr>
          <p:cNvPr id="13" name="Picture 12" descr="Formula: rat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514600"/>
            <a:ext cx="807133" cy="4424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83879" y="22402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difference</a:t>
            </a:r>
          </a:p>
        </p:txBody>
      </p:sp>
      <p:pic>
        <p:nvPicPr>
          <p:cNvPr id="15" name="Picture 14" descr="Formula: dif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2514600"/>
            <a:ext cx="1446862" cy="29694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92040" y="33832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normalised difference</a:t>
            </a:r>
          </a:p>
        </p:txBody>
      </p:sp>
      <p:pic>
        <p:nvPicPr>
          <p:cNvPr id="17" name="Picture 16" descr="Formula: ndif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657600"/>
            <a:ext cx="1550494" cy="46036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83879" y="33832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local slope</a:t>
            </a:r>
          </a:p>
        </p:txBody>
      </p:sp>
      <p:pic>
        <p:nvPicPr>
          <p:cNvPr id="19" name="Picture 18" descr="Formula: slop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79" y="3657600"/>
            <a:ext cx="1153902" cy="4085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92040" y="45262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local curvature</a:t>
            </a:r>
          </a:p>
        </p:txBody>
      </p:sp>
      <p:pic>
        <p:nvPicPr>
          <p:cNvPr id="21" name="Picture 20" descr="Formula: curv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4800600"/>
            <a:ext cx="1486720" cy="44641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183879" y="452628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+ band area, mean, std; dense spectra are first averaged into 8 bands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STAGES 5–6 ·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Feature and wavelength selection always happen inside training folds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7263D"/>
                </a:solidFill>
                <a:latin typeface="Calibri"/>
              </a:rPr>
              <a:t>Feature selection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170"/>
                </a:solidFill>
                <a:latin typeface="Calibri"/>
              </a:rPr>
              <a:t>Correlation filter: keep top-k by</a:t>
            </a:r>
          </a:p>
        </p:txBody>
      </p:sp>
      <p:pic>
        <p:nvPicPr>
          <p:cNvPr id="8" name="Picture 7" descr="Formula: cor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48840"/>
            <a:ext cx="2429373" cy="8031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2971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170"/>
                </a:solidFill>
                <a:latin typeface="Calibri"/>
              </a:rPr>
              <a:t>mRMR (greedy): relevance minus redundancy</a:t>
            </a:r>
          </a:p>
        </p:txBody>
      </p:sp>
      <p:pic>
        <p:nvPicPr>
          <p:cNvPr id="10" name="Picture 9" descr="Formula: mrm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91840"/>
            <a:ext cx="3794525" cy="5121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420624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170"/>
                </a:solidFill>
                <a:latin typeface="Calibri"/>
              </a:rPr>
              <a:t>RFE: drop the weakest 20% by extra-trees importance, refit, repeat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7263D"/>
                </a:solidFill>
                <a:latin typeface="Calibri"/>
              </a:rPr>
              <a:t>Wavelength experiments (5 LEDs)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1947672"/>
            <a:ext cx="457200" cy="457200"/>
          </a:xfrm>
          <a:prstGeom prst="ellipse">
            <a:avLst/>
          </a:prstGeom>
          <a:solidFill>
            <a:srgbClr val="1A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0" y="194767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874519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D3A"/>
                </a:solidFill>
                <a:latin typeface="Calibri"/>
              </a:rPr>
              <a:t>Single wavelength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1945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5 models: 1050 → G, …, 1650 → G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2724912"/>
            <a:ext cx="457200" cy="457200"/>
          </a:xfrm>
          <a:prstGeom prst="ellipse">
            <a:avLst/>
          </a:prstGeom>
          <a:solidFill>
            <a:srgbClr val="1A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0" y="27249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6517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D3A"/>
                </a:solidFill>
                <a:latin typeface="Calibri"/>
              </a:rPr>
              <a:t>Pairs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9718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10 models: (λᵢ, λⱼ) → G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3502152"/>
            <a:ext cx="457200" cy="457200"/>
          </a:xfrm>
          <a:prstGeom prst="ellipse">
            <a:avLst/>
          </a:prstGeom>
          <a:solidFill>
            <a:srgbClr val="1A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0" y="35021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4290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D3A"/>
                </a:solidFill>
                <a:latin typeface="Calibri"/>
              </a:rPr>
              <a:t>Growing sets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49039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all 31 subsets, sizes 1 → 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343400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0" y="44348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D3A"/>
                </a:solidFill>
                <a:latin typeface="Calibri"/>
              </a:rPr>
              <a:t>Nested selection (honest curve)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4846320"/>
            <a:ext cx="14630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675120" y="4846320"/>
            <a:ext cx="1280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D3A"/>
                </a:solidFill>
                <a:latin typeface="Calibri"/>
              </a:rPr>
              <a:t>outer fold: hold out subjects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065008" y="5349240"/>
            <a:ext cx="146304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229600" y="4846320"/>
            <a:ext cx="14630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321040" y="4846320"/>
            <a:ext cx="1280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D3A"/>
                </a:solidFill>
                <a:latin typeface="Calibri"/>
              </a:rPr>
              <a:t>inner 3-fold CV picks best subset of size k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710928" y="5349240"/>
            <a:ext cx="146304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875520" y="4846320"/>
            <a:ext cx="14630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966960" y="4846320"/>
            <a:ext cx="1280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D3A"/>
                </a:solidFill>
                <a:latin typeface="Calibri"/>
              </a:rPr>
              <a:t>score it on held-out subjects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STAGES 7–9 ·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A model ladder: each rung asks whether extra complexity pays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2926080" cy="512064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A1D3A"/>
                </a:solidFill>
                <a:latin typeface="Calibri"/>
              </a:rPr>
              <a:t>Mean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81328"/>
            <a:ext cx="32004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reference: Ĝ = mean(G)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03120"/>
            <a:ext cx="2926080" cy="512064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39" y="2103120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A1D3A"/>
                </a:solidFill>
                <a:latin typeface="Calibri"/>
              </a:rPr>
              <a:t>Linear / 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103120"/>
            <a:ext cx="32004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is the relation roughly linear?</a:t>
            </a:r>
          </a:p>
        </p:txBody>
      </p:sp>
      <p:pic>
        <p:nvPicPr>
          <p:cNvPr id="12" name="Picture 11" descr="Formula: rid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157984"/>
            <a:ext cx="1932549" cy="36400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188719" y="2724912"/>
            <a:ext cx="2926080" cy="512064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325879" y="2724912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A1D3A"/>
                </a:solidFill>
                <a:latin typeface="Calibri"/>
              </a:rPr>
              <a:t>PLSR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724912"/>
            <a:ext cx="32004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linear, built for correlated spectra (Wold et al., 2001)</a:t>
            </a:r>
          </a:p>
        </p:txBody>
      </p:sp>
      <p:pic>
        <p:nvPicPr>
          <p:cNvPr id="16" name="Picture 15" descr="Formula: pl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2779776"/>
            <a:ext cx="3017520" cy="216084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508760" y="3346704"/>
            <a:ext cx="2926080" cy="512064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645919" y="3346704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A1D3A"/>
                </a:solidFill>
                <a:latin typeface="Calibri"/>
              </a:rPr>
              <a:t>SVR (RBF)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346704"/>
            <a:ext cx="32004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does a nonlinear kernel help?</a:t>
            </a:r>
          </a:p>
        </p:txBody>
      </p:sp>
      <p:pic>
        <p:nvPicPr>
          <p:cNvPr id="20" name="Picture 19" descr="Formula: sv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3401568"/>
            <a:ext cx="2268415" cy="258493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828800" y="3968496"/>
            <a:ext cx="2926080" cy="512064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965960" y="3968496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A1D3A"/>
                </a:solidFill>
                <a:latin typeface="Calibri"/>
              </a:rPr>
              <a:t>RF · XGBoost · CatBoost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3968496"/>
            <a:ext cx="32004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do feature interactions help?</a:t>
            </a:r>
          </a:p>
        </p:txBody>
      </p:sp>
      <p:pic>
        <p:nvPicPr>
          <p:cNvPr id="24" name="Picture 23" descr="Formula: boos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4023359"/>
            <a:ext cx="2282483" cy="240909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2148840" y="4590288"/>
            <a:ext cx="2926080" cy="512064"/>
          </a:xfrm>
          <a:prstGeom prst="roundRect">
            <a:avLst>
              <a:gd name="adj" fmla="val 8000"/>
            </a:avLst>
          </a:prstGeom>
          <a:solidFill>
            <a:srgbClr val="1A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286000" y="4590288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FFNN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590288"/>
            <a:ext cx="32004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does a learned representation beat engineering?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68879" y="5212080"/>
            <a:ext cx="2926080" cy="512064"/>
          </a:xfrm>
          <a:prstGeom prst="roundRect">
            <a:avLst>
              <a:gd name="adj" fmla="val 8000"/>
            </a:avLst>
          </a:prstGeom>
          <a:solidFill>
            <a:srgbClr val="1A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606039" y="5212080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1-D CNN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5212080"/>
            <a:ext cx="32004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can local spectral shape be learned directly?</a:t>
            </a:r>
          </a:p>
        </p:txBody>
      </p:sp>
      <p:pic>
        <p:nvPicPr>
          <p:cNvPr id="31" name="Picture 30" descr="Formula: conv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0" y="5266944"/>
            <a:ext cx="1936066" cy="57853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Transfer learning (rung 8) is planned once a relevant pretraining spectral corpus is chosen.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STAGES 8–9 · NEURAL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FFNN and 1-D CNN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7263D"/>
                </a:solidFill>
                <a:latin typeface="Calibri"/>
              </a:rPr>
              <a:t>FFNN (baseline network)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1261872" cy="1051560"/>
          </a:xfrm>
          <a:prstGeom prst="roundRect">
            <a:avLst>
              <a:gd name="adj" fmla="val 8000"/>
            </a:avLst>
          </a:prstGeom>
          <a:solidFill>
            <a:srgbClr val="1A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1920240"/>
            <a:ext cx="1042415" cy="480059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91156"/>
            <a:ext cx="1042415" cy="4160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9CEEA"/>
                </a:solidFill>
                <a:latin typeface="Calibri"/>
              </a:rPr>
              <a:t>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2354580"/>
            <a:ext cx="182880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029968" y="1828800"/>
            <a:ext cx="1261872" cy="10515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139696" y="1920240"/>
            <a:ext cx="1042415" cy="480059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300" b="1" i="0">
                <a:solidFill>
                  <a:srgbClr val="1A1D3A"/>
                </a:solidFill>
                <a:latin typeface="Calibri"/>
              </a:rPr>
              <a:t>Dense 128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9696" y="2391156"/>
            <a:ext cx="1042415" cy="4160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6170"/>
                </a:solidFill>
                <a:latin typeface="Calibri"/>
              </a:rPr>
              <a:t>ReLU + Dropout 0.2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10128" y="2354580"/>
            <a:ext cx="182880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511296" y="1828800"/>
            <a:ext cx="1261872" cy="10515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621024" y="1920240"/>
            <a:ext cx="1042415" cy="480059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300" b="1" i="0">
                <a:solidFill>
                  <a:srgbClr val="1A1D3A"/>
                </a:solidFill>
                <a:latin typeface="Calibri"/>
              </a:rPr>
              <a:t>Dense 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2391156"/>
            <a:ext cx="1042415" cy="4160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6170"/>
                </a:solidFill>
                <a:latin typeface="Calibri"/>
              </a:rPr>
              <a:t>ReLU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91456" y="2354580"/>
            <a:ext cx="182880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992624" y="1828800"/>
            <a:ext cx="1261872" cy="10515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102352" y="1920240"/>
            <a:ext cx="1042415" cy="480059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300" b="1" i="0">
                <a:solidFill>
                  <a:srgbClr val="1A1D3A"/>
                </a:solidFill>
                <a:latin typeface="Calibri"/>
              </a:rPr>
              <a:t>Dense 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2391156"/>
            <a:ext cx="1042415" cy="4160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6170"/>
                </a:solidFill>
                <a:latin typeface="Calibri"/>
              </a:rPr>
              <a:t>ReLU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72783" y="2354580"/>
            <a:ext cx="182881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73952" y="1828800"/>
            <a:ext cx="1261872" cy="1051560"/>
          </a:xfrm>
          <a:prstGeom prst="roundRect">
            <a:avLst>
              <a:gd name="adj" fmla="val 8000"/>
            </a:avLst>
          </a:prstGeom>
          <a:solidFill>
            <a:srgbClr val="1A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83680" y="1920240"/>
            <a:ext cx="1042415" cy="480059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391156"/>
            <a:ext cx="1042415" cy="4160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9CEEA"/>
                </a:solidFill>
                <a:latin typeface="Calibri"/>
              </a:rPr>
              <a:t>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7263D"/>
                </a:solidFill>
                <a:latin typeface="Calibri"/>
              </a:rPr>
              <a:t>1-D CNN (main deep model)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611880"/>
            <a:ext cx="1234440" cy="1143000"/>
          </a:xfrm>
          <a:prstGeom prst="roundRect">
            <a:avLst>
              <a:gd name="adj" fmla="val 8000"/>
            </a:avLst>
          </a:prstGeom>
          <a:solidFill>
            <a:srgbClr val="1A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703320"/>
            <a:ext cx="1014984" cy="5257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Spectrum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219956"/>
            <a:ext cx="1014984" cy="461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9CEEA"/>
                </a:solidFill>
                <a:latin typeface="Calibri"/>
              </a:rPr>
              <a:t>1 × 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801368" y="4183380"/>
            <a:ext cx="146304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965960" y="3611880"/>
            <a:ext cx="1234440" cy="11430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075688" y="3703320"/>
            <a:ext cx="1014984" cy="5257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 i="0">
                <a:solidFill>
                  <a:srgbClr val="1A1D3A"/>
                </a:solidFill>
                <a:latin typeface="Calibri"/>
              </a:rPr>
              <a:t>Conv 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75688" y="4219956"/>
            <a:ext cx="1014984" cy="461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6170"/>
                </a:solidFill>
                <a:latin typeface="Calibri"/>
              </a:rPr>
              <a:t>k=7 (3 if p&lt;15) BN ReLU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218688" y="4183380"/>
            <a:ext cx="146303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383280" y="3611880"/>
            <a:ext cx="1234440" cy="11430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493008" y="3703320"/>
            <a:ext cx="1014984" cy="5257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 i="0">
                <a:solidFill>
                  <a:srgbClr val="1A1D3A"/>
                </a:solidFill>
                <a:latin typeface="Calibri"/>
              </a:rPr>
              <a:t>Conv 64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93008" y="4219956"/>
            <a:ext cx="1014984" cy="461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6170"/>
                </a:solidFill>
                <a:latin typeface="Calibri"/>
              </a:rPr>
              <a:t>k=3 BN ReLU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636008" y="4183380"/>
            <a:ext cx="146304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800600" y="3611880"/>
            <a:ext cx="1234440" cy="11430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910328" y="3703320"/>
            <a:ext cx="1014984" cy="5257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 i="0">
                <a:solidFill>
                  <a:srgbClr val="1A1D3A"/>
                </a:solidFill>
                <a:latin typeface="Calibri"/>
              </a:rPr>
              <a:t>MaxPool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10328" y="4219956"/>
            <a:ext cx="1014984" cy="461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6170"/>
                </a:solidFill>
                <a:latin typeface="Calibri"/>
              </a:rPr>
              <a:t>if p ≥ 8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053328" y="4183380"/>
            <a:ext cx="146304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217920" y="3611880"/>
            <a:ext cx="1234440" cy="11430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327648" y="3703320"/>
            <a:ext cx="1014984" cy="5257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 i="0">
                <a:solidFill>
                  <a:srgbClr val="1A1D3A"/>
                </a:solidFill>
                <a:latin typeface="Calibri"/>
              </a:rPr>
              <a:t>Conv 64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7648" y="4219956"/>
            <a:ext cx="1014984" cy="461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6170"/>
                </a:solidFill>
                <a:latin typeface="Calibri"/>
              </a:rPr>
              <a:t>k=3 BN ReLU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470648" y="4183380"/>
            <a:ext cx="146304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635240" y="3611880"/>
            <a:ext cx="1234440" cy="11430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744967" y="3703320"/>
            <a:ext cx="1014984" cy="5257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 i="0">
                <a:solidFill>
                  <a:srgbClr val="1A1D3A"/>
                </a:solidFill>
                <a:latin typeface="Calibri"/>
              </a:rPr>
              <a:t>Global pool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44967" y="4219956"/>
            <a:ext cx="1014984" cy="461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6170"/>
                </a:solidFill>
                <a:latin typeface="Calibri"/>
              </a:rPr>
              <a:t>mean ‖ max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887967" y="4183380"/>
            <a:ext cx="146305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9052560" y="3611880"/>
            <a:ext cx="1234440" cy="11430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162288" y="3703320"/>
            <a:ext cx="1014984" cy="5257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 i="0">
                <a:solidFill>
                  <a:srgbClr val="1A1D3A"/>
                </a:solidFill>
                <a:latin typeface="Calibri"/>
              </a:rPr>
              <a:t>Dense 64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62288" y="4219956"/>
            <a:ext cx="1014984" cy="461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6170"/>
                </a:solidFill>
                <a:latin typeface="Calibri"/>
              </a:rPr>
              <a:t>ReLU, Drop 0.2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0305288" y="4183380"/>
            <a:ext cx="146304" cy="0"/>
          </a:xfrm>
          <a:prstGeom prst="line">
            <a:avLst/>
          </a:prstGeom>
          <a:ln w="22225">
            <a:solidFill>
              <a:srgbClr val="5B61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10469880" y="3611880"/>
            <a:ext cx="1234440" cy="1143000"/>
          </a:xfrm>
          <a:prstGeom prst="roundRect">
            <a:avLst>
              <a:gd name="adj" fmla="val 8000"/>
            </a:avLst>
          </a:prstGeom>
          <a:solidFill>
            <a:srgbClr val="1A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0579607" y="3703320"/>
            <a:ext cx="1014984" cy="5257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79607" y="4219956"/>
            <a:ext cx="1014984" cy="461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9CEEA"/>
                </a:solidFill>
                <a:latin typeface="Calibri"/>
              </a:rPr>
              <a:t>Ĝ</a:t>
            </a:r>
          </a:p>
        </p:txBody>
      </p:sp>
      <p:pic>
        <p:nvPicPr>
          <p:cNvPr id="58" name="Picture 57" descr="Formula: conv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74920"/>
            <a:ext cx="2323279" cy="694240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4572000" y="4983480"/>
            <a:ext cx="7040880" cy="12801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4754880" y="5074920"/>
            <a:ext cx="66751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D3A"/>
                </a:solidFill>
                <a:latin typeface="Calibri"/>
              </a:rPr>
              <a:t>Training: </a:t>
            </a:r>
            <a:r>
              <a:rPr sz="1300" b="0" i="0">
                <a:solidFill>
                  <a:srgbClr val="1A1D3A"/>
                </a:solidFill>
                <a:latin typeface="Calibri"/>
              </a:rPr>
              <a:t>AdamW (lr 1e-3, wd 1e-4), SmoothL1 loss (β = 0.5) on standardised glucose, batch 64, ≤ 400 epochs, ReduceLROnPlateau, early stopping (patience 40) on a held-out 15% of the training subjects.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STAGES 10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Three evaluation scenarios; unseen subjects is the primary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D3A"/>
                </a:solidFill>
                <a:latin typeface="Calibri"/>
              </a:rPr>
              <a:t>A · Random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92807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measurements shuffled; same subject in train and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161848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794760" y="205740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4270248" y="161848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270248" y="205740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45736" y="161848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45736" y="205740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5221224" y="161848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5221224" y="205740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5696712" y="161848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5696712" y="205740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6172200" y="161848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172200" y="205740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647688" y="161848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647688" y="205740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123176" y="161848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7123176" y="205740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7598664" y="161848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7598664" y="205740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074152" y="161848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8074152" y="205740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686800" y="17830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D7263D"/>
                </a:solidFill>
                <a:latin typeface="Calibri"/>
              </a:rPr>
              <a:t>sanity check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6974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D3A"/>
                </a:solidFill>
                <a:latin typeface="Calibri"/>
              </a:rPr>
              <a:t>B · Subject split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081528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GroupKFold on subject_id; test people never seen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94760" y="280720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3794760" y="32461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4270248" y="280720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4270248" y="32461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4745736" y="280720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4745736" y="32461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5221224" y="280720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5221224" y="32461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5696712" y="280720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5696712" y="32461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6172200" y="280720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6172200" y="32461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6647688" y="280720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6647688" y="32461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7123176" y="280720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7123176" y="32461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7598664" y="280720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7598664" y="32461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8074152" y="280720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8074152" y="32461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686800" y="29718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B998B"/>
                </a:solidFill>
                <a:latin typeface="Calibri"/>
              </a:rPr>
              <a:t>primary result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38862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D3A"/>
                </a:solidFill>
                <a:latin typeface="Calibri"/>
              </a:rPr>
              <a:t>C · Session split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4270248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train on day 1, test on day 2 of the same people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94760" y="399592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3794760" y="443484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4270248" y="399592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ounded Rectangle 56"/>
          <p:cNvSpPr/>
          <p:nvPr/>
        </p:nvSpPr>
        <p:spPr>
          <a:xfrm>
            <a:off x="4270248" y="443484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4745736" y="399592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ounded Rectangle 58"/>
          <p:cNvSpPr/>
          <p:nvPr/>
        </p:nvSpPr>
        <p:spPr>
          <a:xfrm>
            <a:off x="4745736" y="443484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ounded Rectangle 59"/>
          <p:cNvSpPr/>
          <p:nvPr/>
        </p:nvSpPr>
        <p:spPr>
          <a:xfrm>
            <a:off x="5221224" y="399592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ounded Rectangle 60"/>
          <p:cNvSpPr/>
          <p:nvPr/>
        </p:nvSpPr>
        <p:spPr>
          <a:xfrm>
            <a:off x="5221224" y="443484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ounded Rectangle 61"/>
          <p:cNvSpPr/>
          <p:nvPr/>
        </p:nvSpPr>
        <p:spPr>
          <a:xfrm>
            <a:off x="5696712" y="399592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ounded Rectangle 62"/>
          <p:cNvSpPr/>
          <p:nvPr/>
        </p:nvSpPr>
        <p:spPr>
          <a:xfrm>
            <a:off x="5696712" y="443484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ounded Rectangle 63"/>
          <p:cNvSpPr/>
          <p:nvPr/>
        </p:nvSpPr>
        <p:spPr>
          <a:xfrm>
            <a:off x="6172200" y="399592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ounded Rectangle 64"/>
          <p:cNvSpPr/>
          <p:nvPr/>
        </p:nvSpPr>
        <p:spPr>
          <a:xfrm>
            <a:off x="6172200" y="443484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ounded Rectangle 65"/>
          <p:cNvSpPr/>
          <p:nvPr/>
        </p:nvSpPr>
        <p:spPr>
          <a:xfrm>
            <a:off x="6647688" y="399592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ounded Rectangle 66"/>
          <p:cNvSpPr/>
          <p:nvPr/>
        </p:nvSpPr>
        <p:spPr>
          <a:xfrm>
            <a:off x="6647688" y="443484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ounded Rectangle 67"/>
          <p:cNvSpPr/>
          <p:nvPr/>
        </p:nvSpPr>
        <p:spPr>
          <a:xfrm>
            <a:off x="7123176" y="399592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ounded Rectangle 68"/>
          <p:cNvSpPr/>
          <p:nvPr/>
        </p:nvSpPr>
        <p:spPr>
          <a:xfrm>
            <a:off x="7123176" y="443484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ounded Rectangle 69"/>
          <p:cNvSpPr/>
          <p:nvPr/>
        </p:nvSpPr>
        <p:spPr>
          <a:xfrm>
            <a:off x="7598664" y="399592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ounded Rectangle 70"/>
          <p:cNvSpPr/>
          <p:nvPr/>
        </p:nvSpPr>
        <p:spPr>
          <a:xfrm>
            <a:off x="7598664" y="443484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ounded Rectangle 71"/>
          <p:cNvSpPr/>
          <p:nvPr/>
        </p:nvSpPr>
        <p:spPr>
          <a:xfrm>
            <a:off x="8074152" y="399592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ounded Rectangle 72"/>
          <p:cNvSpPr/>
          <p:nvPr/>
        </p:nvSpPr>
        <p:spPr>
          <a:xfrm>
            <a:off x="8074152" y="443484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8686800" y="41605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4A259"/>
                </a:solidFill>
                <a:latin typeface="Calibri"/>
              </a:rPr>
              <a:t>wearable reality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94760" y="50749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B998B"/>
                </a:solidFill>
                <a:latin typeface="Calibri"/>
              </a:rPr>
              <a:t>■ </a:t>
            </a:r>
            <a:r>
              <a:rPr sz="1100" b="0" i="0">
                <a:solidFill>
                  <a:srgbClr val="5B6170"/>
                </a:solidFill>
                <a:latin typeface="Calibri"/>
              </a:rPr>
              <a:t>train   </a:t>
            </a:r>
            <a:r>
              <a:rPr sz="1100" b="0" i="0">
                <a:solidFill>
                  <a:srgbClr val="D7263D"/>
                </a:solidFill>
                <a:latin typeface="Calibri"/>
              </a:rPr>
              <a:t>■ </a:t>
            </a:r>
            <a:r>
              <a:rPr sz="1100" b="0" i="0">
                <a:solidFill>
                  <a:srgbClr val="5B6170"/>
                </a:solidFill>
                <a:latin typeface="Calibri"/>
              </a:rPr>
              <a:t>test   </a:t>
            </a:r>
            <a:r>
              <a:rPr sz="1100" b="0" i="0">
                <a:solidFill>
                  <a:srgbClr val="5B6170"/>
                </a:solidFill>
                <a:latin typeface="Calibri"/>
              </a:rPr>
              <a:t>top row: session 1 · bottom row: session 2 · 10 example subjects</a:t>
            </a:r>
          </a:p>
        </p:txBody>
      </p:sp>
      <p:pic>
        <p:nvPicPr>
          <p:cNvPr id="76" name="Picture 75" descr="Formula: spl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40680"/>
            <a:ext cx="1931963" cy="307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3794760" y="5440680"/>
            <a:ext cx="78181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585"/>
              </a:spcAft>
              <a:buChar char="•"/>
            </a:pPr>
            <a:r>
              <a:rPr sz="1300" b="0" i="0">
                <a:solidFill>
                  <a:srgbClr val="1A1D3A"/>
                </a:solidFill>
                <a:latin typeface="Calibri"/>
              </a:rPr>
              <a:t>Leak check aborts the run if any subject is in both train and test</a:t>
            </a:r>
          </a:p>
          <a:p>
            <a:pPr algn="l" marL="201168" indent="-201168">
              <a:spcAft>
                <a:spcPts val="585"/>
              </a:spcAft>
              <a:buChar char="•"/>
            </a:pPr>
            <a:r>
              <a:rPr sz="1300" b="0" i="0">
                <a:solidFill>
                  <a:srgbClr val="1A1D3A"/>
                </a:solidFill>
                <a:latin typeface="Calibri"/>
              </a:rPr>
              <a:t>Preprocessing, QC, scalers, selectors and tuning are all fitted inside each training fold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Accuracy, agreement and clinical-risk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5B6170"/>
                </a:solidFill>
                <a:latin typeface="Calibri"/>
              </a:rPr>
              <a:t>Mean absolute error</a:t>
            </a:r>
          </a:p>
        </p:txBody>
      </p:sp>
      <p:pic>
        <p:nvPicPr>
          <p:cNvPr id="8" name="Picture 7" descr="Formula: ma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2051069" cy="68791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97679" y="146304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480559" y="160020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5B6170"/>
                </a:solidFill>
                <a:latin typeface="Calibri"/>
              </a:rPr>
              <a:t>Root mean squared error</a:t>
            </a:r>
          </a:p>
        </p:txBody>
      </p:sp>
      <p:pic>
        <p:nvPicPr>
          <p:cNvPr id="11" name="Picture 10" descr="Formula: rms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59" y="2057400"/>
            <a:ext cx="2646132" cy="77864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046719" y="146304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599" y="160020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5B6170"/>
                </a:solidFill>
                <a:latin typeface="Calibri"/>
              </a:rPr>
              <a:t>Coefficient of determination</a:t>
            </a:r>
          </a:p>
        </p:txBody>
      </p:sp>
      <p:pic>
        <p:nvPicPr>
          <p:cNvPr id="14" name="Picture 13" descr="Formula: r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599" y="2057400"/>
            <a:ext cx="1831613" cy="793417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8640" y="342900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5B6170"/>
                </a:solidFill>
                <a:latin typeface="Calibri"/>
              </a:rPr>
              <a:t>Mean absolute relative difference</a:t>
            </a:r>
          </a:p>
        </p:txBody>
      </p:sp>
      <p:pic>
        <p:nvPicPr>
          <p:cNvPr id="17" name="Picture 16" descr="Formula: mar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023360"/>
            <a:ext cx="2219881" cy="53175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297679" y="342900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480559" y="35661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5B6170"/>
                </a:solidFill>
                <a:latin typeface="Calibri"/>
              </a:rPr>
              <a:t>Bland–Altman agreement</a:t>
            </a:r>
          </a:p>
        </p:txBody>
      </p:sp>
      <p:pic>
        <p:nvPicPr>
          <p:cNvPr id="20" name="Picture 19" descr="Formula: loa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59" y="4023360"/>
            <a:ext cx="3120917" cy="299641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046719" y="342900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599" y="35661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5B6170"/>
                </a:solidFill>
                <a:latin typeface="Calibri"/>
              </a:rPr>
              <a:t>Subgroup MAE</a:t>
            </a:r>
          </a:p>
        </p:txBody>
      </p:sp>
      <p:pic>
        <p:nvPicPr>
          <p:cNvPr id="23" name="Picture 22" descr="Formula: mae_k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599" y="4023360"/>
            <a:ext cx="2363372" cy="717452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48640" y="544068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1A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544068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4A259"/>
                </a:solidFill>
                <a:latin typeface="Calibri"/>
              </a:rPr>
              <a:t>Clarke error grid (Clarke et al., 1987):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zone A within ±20% (or both &lt; 70 mg/dL) · B benign · C–E would lead to wrong treatment. Per-subject MAE (median, 90th percentile) is reported too.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STAGE 11 ·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Per-session calibration, with a control that ignores the spectra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D3A"/>
                </a:solidFill>
                <a:latin typeface="Calibri"/>
              </a:rPr>
              <a:t>Offset (k ≥ 1)</a:t>
            </a:r>
          </a:p>
        </p:txBody>
      </p:sp>
      <p:pic>
        <p:nvPicPr>
          <p:cNvPr id="7" name="Picture 6" descr="Formula: cal_o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2388694" cy="6879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2697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D3A"/>
                </a:solidFill>
                <a:latin typeface="Calibri"/>
              </a:rPr>
              <a:t>Shrunk linear (k ≥ 2), λ = 50</a:t>
            </a:r>
          </a:p>
        </p:txBody>
      </p:sp>
      <p:pic>
        <p:nvPicPr>
          <p:cNvPr id="9" name="Picture 8" descr="Formula: cal_li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63240"/>
            <a:ext cx="3939657" cy="5802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3931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7263D"/>
                </a:solidFill>
                <a:latin typeface="Calibri"/>
              </a:rPr>
              <a:t>ref_only control</a:t>
            </a:r>
          </a:p>
        </p:txBody>
      </p:sp>
      <p:pic>
        <p:nvPicPr>
          <p:cNvPr id="11" name="Picture 10" descr="Formula: cal_re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97680"/>
            <a:ext cx="3338263" cy="6879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212080"/>
            <a:ext cx="5669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A1D3A"/>
                </a:solidFill>
                <a:latin typeface="Calibri"/>
              </a:rPr>
              <a:t>If a calibrated model doesn't beat ref_only at the same k, the gain came from knowing the recent glucose level, not from the optics.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D3A"/>
                </a:solidFill>
                <a:latin typeface="Calibri"/>
              </a:rPr>
              <a:t>Protocol on one OGTT session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011680"/>
            <a:ext cx="246888" cy="822960"/>
          </a:xfrm>
          <a:prstGeom prst="roundRect">
            <a:avLst>
              <a:gd name="adj" fmla="val 25000"/>
            </a:avLst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894576" y="2011680"/>
            <a:ext cx="246888" cy="822960"/>
          </a:xfrm>
          <a:prstGeom prst="roundRect">
            <a:avLst>
              <a:gd name="adj" fmla="val 25000"/>
            </a:avLst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205472" y="2011680"/>
            <a:ext cx="246888" cy="822960"/>
          </a:xfrm>
          <a:prstGeom prst="roundRect">
            <a:avLst>
              <a:gd name="adj" fmla="val 25000"/>
            </a:avLst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516368" y="2011680"/>
            <a:ext cx="246888" cy="822960"/>
          </a:xfrm>
          <a:prstGeom prst="roundRect">
            <a:avLst>
              <a:gd name="adj" fmla="val 25000"/>
            </a:avLst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7827264" y="2011680"/>
            <a:ext cx="246888" cy="822960"/>
          </a:xfrm>
          <a:prstGeom prst="roundRect">
            <a:avLst>
              <a:gd name="adj" fmla="val 25000"/>
            </a:avLst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138160" y="2011680"/>
            <a:ext cx="246888" cy="822960"/>
          </a:xfrm>
          <a:prstGeom prst="roundRect">
            <a:avLst>
              <a:gd name="adj" fmla="val 25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449056" y="2011680"/>
            <a:ext cx="246888" cy="822960"/>
          </a:xfrm>
          <a:prstGeom prst="roundRect">
            <a:avLst>
              <a:gd name="adj" fmla="val 25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759952" y="2011680"/>
            <a:ext cx="246888" cy="822960"/>
          </a:xfrm>
          <a:prstGeom prst="roundRect">
            <a:avLst>
              <a:gd name="adj" fmla="val 25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9070848" y="2011680"/>
            <a:ext cx="246888" cy="822960"/>
          </a:xfrm>
          <a:prstGeom prst="roundRect">
            <a:avLst>
              <a:gd name="adj" fmla="val 25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9381744" y="2011680"/>
            <a:ext cx="246888" cy="822960"/>
          </a:xfrm>
          <a:prstGeom prst="roundRect">
            <a:avLst>
              <a:gd name="adj" fmla="val 25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9692640" y="2011680"/>
            <a:ext cx="246888" cy="822960"/>
          </a:xfrm>
          <a:prstGeom prst="roundRect">
            <a:avLst>
              <a:gd name="adj" fmla="val 25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0003536" y="2011680"/>
            <a:ext cx="246888" cy="822960"/>
          </a:xfrm>
          <a:prstGeom prst="roundRect">
            <a:avLst>
              <a:gd name="adj" fmla="val 25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0314432" y="2011680"/>
            <a:ext cx="246888" cy="822960"/>
          </a:xfrm>
          <a:prstGeom prst="roundRect">
            <a:avLst>
              <a:gd name="adj" fmla="val 25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0625328" y="2011680"/>
            <a:ext cx="246888" cy="822960"/>
          </a:xfrm>
          <a:prstGeom prst="roundRect">
            <a:avLst>
              <a:gd name="adj" fmla="val 25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0936224" y="2011680"/>
            <a:ext cx="246888" cy="822960"/>
          </a:xfrm>
          <a:prstGeom prst="roundRect">
            <a:avLst>
              <a:gd name="adj" fmla="val 25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1247120" y="2011680"/>
            <a:ext cx="246888" cy="822960"/>
          </a:xfrm>
          <a:prstGeom prst="roundRect">
            <a:avLst>
              <a:gd name="adj" fmla="val 25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83680" y="29260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170"/>
                </a:solidFill>
                <a:latin typeface="Calibri"/>
              </a:rPr>
              <a:t>first k used to calibrate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29260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170"/>
                </a:solidFill>
                <a:latin typeface="Calibri"/>
              </a:rPr>
              <a:t>timepoints 5–15: scored for every 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749039"/>
            <a:ext cx="5029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585"/>
              </a:spcAft>
              <a:buChar char="•"/>
            </a:pPr>
            <a:r>
              <a:rPr sz="1300" b="0" i="0">
                <a:solidFill>
                  <a:srgbClr val="1A1D3A"/>
                </a:solidFill>
                <a:latin typeface="Calibri"/>
              </a:rPr>
              <a:t>k ∈ {0, 1, 2, 3, 5} reference readings per session</a:t>
            </a:r>
          </a:p>
          <a:p>
            <a:pPr algn="l" marL="201168" indent="-201168">
              <a:spcAft>
                <a:spcPts val="585"/>
              </a:spcAft>
              <a:buChar char="•"/>
            </a:pPr>
            <a:r>
              <a:rPr sz="1300" b="0" i="0">
                <a:solidFill>
                  <a:srgbClr val="1A1D3A"/>
                </a:solidFill>
                <a:latin typeface="Calibri"/>
              </a:rPr>
              <a:t>Repeats at a timepoint are averaged into one calibration point</a:t>
            </a:r>
          </a:p>
          <a:p>
            <a:pPr algn="l" marL="201168" indent="-201168">
              <a:spcAft>
                <a:spcPts val="585"/>
              </a:spcAft>
              <a:buChar char="•"/>
            </a:pPr>
            <a:r>
              <a:rPr sz="1300" b="0" i="0">
                <a:solidFill>
                  <a:srgbClr val="1A1D3A"/>
                </a:solidFill>
                <a:latin typeface="Calibri"/>
              </a:rPr>
              <a:t>Sensor is re-placed each day, so calibration is per session</a:t>
            </a:r>
          </a:p>
          <a:p>
            <a:pPr algn="l" marL="201168" indent="-201168">
              <a:spcAft>
                <a:spcPts val="585"/>
              </a:spcAft>
              <a:buChar char="•"/>
            </a:pPr>
            <a:r>
              <a:rPr sz="1300" b="0" i="0">
                <a:solidFill>
                  <a:srgbClr val="1A1D3A"/>
                </a:solidFill>
                <a:latin typeface="Calibri"/>
              </a:rPr>
              <a:t>The question is the calibration burden, not the lowest error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83080"/>
            <a:ext cx="2743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F4A259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290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Results (synthetic 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9CEEA"/>
                </a:solidFill>
                <a:latin typeface="Calibri"/>
              </a:rPr>
              <a:t>Validation scenarios · signal strength · preprocessing · wavelengths · calibration · explainability · clinical view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H5 · EVALUATION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Random splits flatter models; unseen subjects tell the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20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417320"/>
          <a:ext cx="758952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12480" y="1554480"/>
            <a:ext cx="3200400" cy="45720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41080" y="17373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D7263D"/>
                </a:solidFill>
                <a:latin typeface="Cambria"/>
              </a:rPr>
              <a:t>0.60 → -0.09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25603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D3A"/>
                </a:solidFill>
                <a:latin typeface="Calibri"/>
              </a:rPr>
              <a:t>FFNN R², random → unseen subjects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3246120"/>
            <a:ext cx="27432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585"/>
              </a:spcAft>
              <a:buChar char="•"/>
            </a:pPr>
            <a:r>
              <a:rPr sz="1300" b="0" i="0">
                <a:solidFill>
                  <a:srgbClr val="1A1D3A"/>
                </a:solidFill>
                <a:latin typeface="Calibri"/>
              </a:rPr>
              <a:t>CatBoost: 0.51 → −0.43</a:t>
            </a:r>
          </a:p>
          <a:p>
            <a:pPr algn="l" marL="201168" indent="-201168">
              <a:spcAft>
                <a:spcPts val="585"/>
              </a:spcAft>
              <a:buChar char="•"/>
            </a:pPr>
            <a:r>
              <a:rPr sz="1300" b="0" i="0">
                <a:solidFill>
                  <a:srgbClr val="1A1D3A"/>
                </a:solidFill>
                <a:latin typeface="Calibri"/>
              </a:rPr>
              <a:t>Only PLSR stays positive on new people (0.23)</a:t>
            </a:r>
          </a:p>
          <a:p>
            <a:pPr algn="l" marL="201168" indent="-201168">
              <a:spcAft>
                <a:spcPts val="585"/>
              </a:spcAft>
              <a:buChar char="•"/>
            </a:pPr>
            <a:r>
              <a:rPr sz="1300" b="0" i="0">
                <a:solidFill>
                  <a:srgbClr val="1A1D3A"/>
                </a:solidFill>
                <a:latin typeface="Calibri"/>
              </a:rPr>
              <a:t>A random split rewards memorising the person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H2 · SIGNAL AND CHANNELS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Five LEDs can't untangle glucose; a dense spectrum partly 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21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417320"/>
          <a:ext cx="758952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12480" y="1554480"/>
            <a:ext cx="3200400" cy="45720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41080" y="1737360"/>
            <a:ext cx="274320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1A1D3A"/>
                </a:solidFill>
                <a:latin typeface="Calibri"/>
              </a:rPr>
              <a:t>Control works: </a:t>
            </a:r>
            <a:r>
              <a:rPr sz="1300" b="0" i="0">
                <a:solidFill>
                  <a:srgbClr val="1A1D3A"/>
                </a:solidFill>
                <a:latin typeface="Calibri"/>
              </a:rPr>
              <a:t>linear models and SVR reach R² ≈ 0.5, so the pipeline does find signal.</a:t>
            </a:r>
          </a:p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1A1D3A"/>
                </a:solidFill>
                <a:latin typeface="Calibri"/>
              </a:rPr>
              <a:t>ear5 fails: </a:t>
            </a:r>
            <a:r>
              <a:rPr sz="1300" b="0" i="0">
                <a:solidFill>
                  <a:srgbClr val="1A1D3A"/>
                </a:solidFill>
                <a:latin typeface="Calibri"/>
              </a:rPr>
              <a:t>5 channels vs ~8 nuisance factors leaves glucose unidentifiable at realistic strength.</a:t>
            </a:r>
          </a:p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1A1D3A"/>
                </a:solidFill>
                <a:latin typeface="Calibri"/>
              </a:rPr>
              <a:t>Dense helps: </a:t>
            </a:r>
            <a:r>
              <a:rPr sz="1300" b="0" i="0">
                <a:solidFill>
                  <a:srgbClr val="1A1D3A"/>
                </a:solidFill>
                <a:latin typeface="Calibri"/>
              </a:rPr>
              <a:t>best R² 0.38 (linear, detrend). Design lever: more wavelengths or a reference channel.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H1 ·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Preprocessing barely moves linear models but makes or breaks trees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22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417320"/>
          <a:ext cx="640080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178040" y="1417320"/>
          <a:ext cx="4434840" cy="40233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Best dense results use detrend or d1+SNV. d1+SNV is what makes the tree models competitive at all (CatBoost 48.2 → 32.6).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H2 · WAVELENGTH 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With 5 LEDs, more wavelengths don't help at realistic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23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417320"/>
          <a:ext cx="566928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92240" y="1417320"/>
          <a:ext cx="5120640" cy="4572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Every subset stays at or above the mean predictor; the nested picks change fold to fold, a sign there is no stable informative subset.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H6 ·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Calibration gains: mostly the reference level, a little optics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24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417320"/>
          <a:ext cx="544068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72200" y="1417320"/>
          <a:ext cx="5440680" cy="42062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71500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D3A"/>
                </a:solidFill>
                <a:latin typeface="Calibri"/>
              </a:rPr>
              <a:t>ear5: ref_only (32.8) matches calibrated PLSR (33.6) at k = 5, so the gain is the reference level. Dense: calibrated PLSR reaches 25.5 vs 29.7 for ref_only, about 4 mg/dL from the optics.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What the models lean on: water-band flank more than glucose bands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25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417320"/>
          <a:ext cx="694944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66928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Peak at 1440–1500 nm (water band flank, temperature-sensitive) rather than the 1590 nm glucose band: part of the signal is the confounder.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0" y="1417320"/>
          <a:ext cx="3840480" cy="42062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0" y="566928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170"/>
                </a:solidFill>
                <a:latin typeface="Calibri"/>
              </a:rPr>
              <a:t>SHAP says 1450 nm matters, yet permuting any wavelength improves MAE on new people.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CLINICAL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Clarke error grid on unseen subjects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26</a:t>
            </a:r>
          </a:p>
        </p:txBody>
      </p:sp>
      <p:pic>
        <p:nvPicPr>
          <p:cNvPr id="6" name="Picture 5" descr="Clarke error grid, Dense spectrum · PLSR (SNV), unseen subject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17320"/>
            <a:ext cx="4251960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760720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D3A"/>
                </a:solidFill>
                <a:latin typeface="Calibri"/>
              </a:rPr>
              <a:t>Dense spectrum · PLSR (SNV): </a:t>
            </a:r>
            <a:r>
              <a:rPr sz="1400" b="0" i="0">
                <a:solidFill>
                  <a:srgbClr val="1A1D3A"/>
                </a:solidFill>
                <a:latin typeface="Calibri"/>
              </a:rPr>
              <a:t>47% in zone A</a:t>
            </a:r>
          </a:p>
        </p:txBody>
      </p:sp>
      <p:pic>
        <p:nvPicPr>
          <p:cNvPr id="8" name="Picture 7" descr="Clarke error grid, Positive control · SVR (MSC), unseen subjects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417320"/>
            <a:ext cx="4251960" cy="4251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5760720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D3A"/>
                </a:solidFill>
                <a:latin typeface="Calibri"/>
              </a:rPr>
              <a:t>Positive control · SVR (MSC): </a:t>
            </a:r>
            <a:r>
              <a:rPr sz="1400" b="0" i="0">
                <a:solidFill>
                  <a:srgbClr val="1A1D3A"/>
                </a:solidFill>
                <a:latin typeface="Calibri"/>
              </a:rPr>
              <a:t>57% in zone 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Hypotheses H1–H7: where the evidence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657600"/>
                <a:gridCol w="5120640"/>
                <a:gridCol w="1737360"/>
              </a:tblGrid>
              <a:tr h="548640">
                <a:tc>
                  <a:txBody>
                    <a:bodyPr wrap="square"/>
                    <a:lstStyle/>
                    <a:p/>
                  </a:txBody>
                  <a:tcPr marL="73152" marR="73152" marT="27432" marB="27432" anchor="ctr">
                    <a:solidFill>
                      <a:srgbClr val="1A1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Hypothesis</a:t>
                      </a:r>
                    </a:p>
                  </a:txBody>
                  <a:tcPr marL="73152" marR="73152" marT="27432" marB="27432" anchor="ctr">
                    <a:solidFill>
                      <a:srgbClr val="1A1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Synthetic evidence</a:t>
                      </a:r>
                    </a:p>
                  </a:txBody>
                  <a:tcPr marL="73152" marR="73152" marT="27432" marB="27432" anchor="ctr">
                    <a:solidFill>
                      <a:srgbClr val="1A1D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1A1D3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H1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Preprocessing beats raw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Small for linear (2–4 mg/dL), large for trees (7–16)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4A259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H2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A wavelength subset is as good as all 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Nothing beats the mean on ear5; dense spectrum helps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B6170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H3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Nonlinear beats linear / PLSR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Not with 40 subjects; trees fit identity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D7263D"/>
                          </a:solidFill>
                          <a:latin typeface="Calibri"/>
                        </a:rPr>
                        <a:t>Not supported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H4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1-D CNN helps with enough data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CNN R² −0.28 on dense, below PLSR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D7263D"/>
                          </a:solidFill>
                          <a:latin typeface="Calibri"/>
                        </a:rPr>
                        <a:t>Not yet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H5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Unseen subjects score worse than random split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FFNN 0.60 → −0.09, CatBoost 0.51 → −0.43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998B"/>
                          </a:solidFill>
                          <a:latin typeface="Calibri"/>
                        </a:rPr>
                        <a:t>Supported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H6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A little calibration helps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Mostly the reference level; ~4 mg/dL optical gain on dense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4A259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H7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Interference-robust training generalises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D3A"/>
                          </a:solidFill>
                          <a:latin typeface="Calibri"/>
                        </a:rPr>
                        <a:t>Transfer learning not run yet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B6170"/>
                          </a:solidFill>
                          <a:latin typeface="Calibri"/>
                        </a:rPr>
                        <a:t>Not tested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4A259"/>
                </a:solidFill>
                <a:latin typeface="Calibri"/>
              </a:rPr>
              <a:t>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Next steps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645920"/>
            <a:ext cx="548640" cy="54864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A1D3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Collect real ear spectra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01168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9CEEA"/>
                </a:solidFill>
                <a:latin typeface="Calibri"/>
              </a:rPr>
              <a:t>subject ID, timestamp, reference glucose; run the same suite unchanged</a:t>
            </a:r>
          </a:p>
        </p:txBody>
      </p:sp>
      <p:sp>
        <p:nvSpPr>
          <p:cNvPr id="8" name="Oval 7"/>
          <p:cNvSpPr/>
          <p:nvPr/>
        </p:nvSpPr>
        <p:spPr>
          <a:xfrm>
            <a:off x="6172200" y="1645920"/>
            <a:ext cx="548640" cy="54864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172200" y="1645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A1D3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55448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Test more channels on 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01168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9CEEA"/>
                </a:solidFill>
                <a:latin typeface="Calibri"/>
              </a:rPr>
              <a:t>add wavelengths or a temperature / reference channel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154679"/>
            <a:ext cx="548640" cy="54864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315467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A1D3A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063239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Measure skin temperature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520439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9CEEA"/>
                </a:solidFill>
                <a:latin typeface="Calibri"/>
              </a:rPr>
              <a:t>use it as a model input; it is the largest confounder in the simulation</a:t>
            </a:r>
          </a:p>
        </p:txBody>
      </p:sp>
      <p:sp>
        <p:nvSpPr>
          <p:cNvPr id="16" name="Oval 15"/>
          <p:cNvSpPr/>
          <p:nvPr/>
        </p:nvSpPr>
        <p:spPr>
          <a:xfrm>
            <a:off x="6172200" y="3154679"/>
            <a:ext cx="548640" cy="54864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172200" y="315467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A1D3A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063239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Uncertainty output 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520439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9CEEA"/>
                </a:solidFill>
                <a:latin typeface="Calibri"/>
              </a:rPr>
              <a:t>conformal intervals on subject-level residuals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663440"/>
            <a:ext cx="548640" cy="54864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8640" y="46634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A1D3A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57200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Transfer learning (H7)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02920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9CEEA"/>
                </a:solidFill>
                <a:latin typeface="Calibri"/>
              </a:rPr>
              <a:t>pretrain the 1-D CNN on a public NIR corpus, fine-tune on ear data</a:t>
            </a:r>
          </a:p>
        </p:txBody>
      </p:sp>
      <p:sp>
        <p:nvSpPr>
          <p:cNvPr id="24" name="Oval 23"/>
          <p:cNvSpPr/>
          <p:nvPr/>
        </p:nvSpPr>
        <p:spPr>
          <a:xfrm>
            <a:off x="6172200" y="4663440"/>
            <a:ext cx="548640" cy="54864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172200" y="46634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A1D3A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57200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GPU runs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02920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9CEEA"/>
                </a:solidFill>
                <a:latin typeface="Calibri"/>
              </a:rPr>
              <a:t>install CUDA torch on gnode118 for larger CNN sweeps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7263D"/>
                </a:solidFill>
                <a:latin typeface="Calibr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D3A"/>
                </a:solidFill>
                <a:latin typeface="Cambria"/>
              </a:rPr>
              <a:t>References and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170"/>
                </a:solidFill>
                <a:latin typeface="Calibri"/>
              </a:rPr>
              <a:t>EarSpectro · glycemico-pred · synthetic-data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170"/>
                </a:solidFill>
                <a:latin typeface="Calibri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495"/>
              </a:spcAft>
              <a:buChar char="•"/>
            </a:pPr>
            <a:r>
              <a:rPr sz="1100" b="0" i="0">
                <a:solidFill>
                  <a:srgbClr val="1A1D3A"/>
                </a:solidFill>
                <a:latin typeface="Calibri"/>
              </a:rPr>
              <a:t>Amerov, A. K., Chen, J., &amp; Arnold, M. A. (2004). Molar absorptivities of glucose and other biological molecules in aqueous solutions over the first overtone and combination regions of the NIR spectrum. Applied Spectroscopy. doi:10.1366/0003702042336136</a:t>
            </a:r>
          </a:p>
          <a:p>
            <a:pPr algn="l" marL="201168" indent="-201168">
              <a:spcAft>
                <a:spcPts val="495"/>
              </a:spcAft>
              <a:buChar char="•"/>
            </a:pPr>
            <a:r>
              <a:rPr sz="1100" b="0" i="0">
                <a:solidFill>
                  <a:srgbClr val="1A1D3A"/>
                </a:solidFill>
                <a:latin typeface="Calibri"/>
              </a:rPr>
              <a:t>Barnes, R. J., Dhanoa, M. S., &amp; Lister, S. J. (1989). Standard normal variate transformation and de-trending of NIR diffuse reflectance spectra. Applied Spectroscopy. doi:10.1366/0003702894202201</a:t>
            </a:r>
          </a:p>
          <a:p>
            <a:pPr algn="l" marL="201168" indent="-201168">
              <a:spcAft>
                <a:spcPts val="495"/>
              </a:spcAft>
              <a:buChar char="•"/>
            </a:pPr>
            <a:r>
              <a:rPr sz="1100" b="0" i="0">
                <a:solidFill>
                  <a:srgbClr val="1A1D3A"/>
                </a:solidFill>
                <a:latin typeface="Calibri"/>
              </a:rPr>
              <a:t>Clarke, W. L., et al. (1987). Evaluating clinical accuracy of systems for self-monitoring of blood glucose. Diabetes Care. doi:10.2337/diacare.10.5.622</a:t>
            </a:r>
          </a:p>
          <a:p>
            <a:pPr algn="l" marL="201168" indent="-201168">
              <a:spcAft>
                <a:spcPts val="495"/>
              </a:spcAft>
              <a:buChar char="•"/>
            </a:pPr>
            <a:r>
              <a:rPr sz="1100" b="0" i="0">
                <a:solidFill>
                  <a:srgbClr val="1A1D3A"/>
                </a:solidFill>
                <a:latin typeface="Calibri"/>
              </a:rPr>
              <a:t>Geladi, P., MacDougall, D., &amp; Martens, H. (1985). Linearization and scatter-correction for NIR reflectance spectra of meat. Applied Spectroscopy. doi:10.1366/0003702854248656</a:t>
            </a:r>
          </a:p>
          <a:p>
            <a:pPr algn="l" marL="201168" indent="-201168">
              <a:spcAft>
                <a:spcPts val="495"/>
              </a:spcAft>
              <a:buChar char="•"/>
            </a:pPr>
            <a:r>
              <a:rPr sz="1100" b="0" i="0">
                <a:solidFill>
                  <a:srgbClr val="1A1D3A"/>
                </a:solidFill>
                <a:latin typeface="Calibri"/>
              </a:rPr>
              <a:t>Lundberg, S. M., &amp; Lee, S.-I. (2017). A unified approach to interpreting model predictions. NeurIPS. arXiv:1705.07874</a:t>
            </a:r>
          </a:p>
          <a:p>
            <a:pPr algn="l" marL="201168" indent="-201168">
              <a:spcAft>
                <a:spcPts val="495"/>
              </a:spcAft>
              <a:buChar char="•"/>
            </a:pPr>
            <a:r>
              <a:rPr sz="1100" b="0" i="0">
                <a:solidFill>
                  <a:srgbClr val="1A1D3A"/>
                </a:solidFill>
                <a:latin typeface="Calibri"/>
              </a:rPr>
              <a:t>Prokhorenkova, L., et al. (2018). CatBoost: unbiased boosting with categorical features. NeurIPS. arXiv:1706.09516</a:t>
            </a:r>
          </a:p>
          <a:p>
            <a:pPr algn="l" marL="201168" indent="-201168">
              <a:spcAft>
                <a:spcPts val="495"/>
              </a:spcAft>
              <a:buChar char="•"/>
            </a:pPr>
            <a:r>
              <a:rPr sz="1100" b="0" i="0">
                <a:solidFill>
                  <a:srgbClr val="1A1D3A"/>
                </a:solidFill>
                <a:latin typeface="Calibri"/>
              </a:rPr>
              <a:t>Savitzky, A., &amp; Golay, M. J. E. (1964). Smoothing and differentiation of data by simplified least squares procedures. Analytical Chemistry. doi:10.1021/ac60214a047</a:t>
            </a:r>
          </a:p>
          <a:p>
            <a:pPr algn="l" marL="201168" indent="-201168">
              <a:spcAft>
                <a:spcPts val="495"/>
              </a:spcAft>
              <a:buChar char="•"/>
            </a:pPr>
            <a:r>
              <a:rPr sz="1100" b="0" i="0">
                <a:solidFill>
                  <a:srgbClr val="1A1D3A"/>
                </a:solidFill>
                <a:latin typeface="Calibri"/>
              </a:rPr>
              <a:t>Wold, S., Sjöström, M., &amp; Eriksson, L. (2001). PLS-regression: a basic tool of chemometrics. Chemometrics and Intelligent Laboratory Systems. doi:10.1016/S0169-7439(01)00155-1</a:t>
            </a:r>
          </a:p>
          <a:p>
            <a:pPr algn="l" marL="201168" indent="-201168">
              <a:spcAft>
                <a:spcPts val="495"/>
              </a:spcAft>
              <a:buChar char="•"/>
            </a:pPr>
            <a:r>
              <a:rPr sz="1100" b="0" i="0">
                <a:solidFill>
                  <a:srgbClr val="1A1D3A"/>
                </a:solidFill>
                <a:latin typeface="Calibri"/>
              </a:rPr>
              <a:t>Hale, G. M., &amp; Querry, M. R. (1973). Optical constants of water in the 200-nm to 200-µm wavelength region. Applied Optics (not auto-verified)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D3A"/>
                </a:solidFill>
                <a:latin typeface="Calibri"/>
              </a:rPr>
              <a:t>From the EarSpectro survey (cited as named there): </a:t>
            </a:r>
            <a:r>
              <a:rPr sz="1200" b="0" i="0">
                <a:solidFill>
                  <a:srgbClr val="1A1D3A"/>
                </a:solidFill>
                <a:latin typeface="Calibri"/>
              </a:rPr>
              <a:t>Gusev et al.; Susana et al.; Satter et al.; Adigüzel et al.; Naresh et al.; Habibullah et al.; Liao, Lo &amp; Yang.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